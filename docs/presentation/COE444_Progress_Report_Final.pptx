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e00b237cc864bbb" /><Relationship Type="http://schemas.openxmlformats.org/officeDocument/2006/relationships/extended-properties" Target="/docProps/app.xml" Id="Rfea6fea7aa5e4083" /><Relationship Type="http://schemas.openxmlformats.org/officeDocument/2006/relationships/officeDocument" Target="/ppt/presentation.xml" Id="Rebbe3ebb57e64f6f" /></Relationships>
</file>

<file path=ppt/presentation.xml><?xml version="1.0" encoding="utf-8"?>
<p:presentation xmlns:p="http://schemas.openxmlformats.org/presentationml/2006/main">
  <p:sldMasterIdLst>
    <p:sldMasterId xmlns:r="http://schemas.openxmlformats.org/officeDocument/2006/relationships" id="2147483648" r:id="R4669480c5ef54973"/>
  </p:sldMasterIdLst>
  <p:notesMasterIdLst>
    <p:notesMasterId xmlns:r="http://schemas.openxmlformats.org/officeDocument/2006/relationships" r:id="R0369791b6ecd4cc6"/>
  </p:notesMasterIdLst>
  <p:sldIdLst>
    <p:sldId xmlns:r="http://schemas.openxmlformats.org/officeDocument/2006/relationships" id="256" r:id="Rfa7d0e8792084712"/>
    <p:sldId xmlns:r="http://schemas.openxmlformats.org/officeDocument/2006/relationships" id="257" r:id="Rc5fe5caf6f7845c4"/>
    <p:sldId xmlns:r="http://schemas.openxmlformats.org/officeDocument/2006/relationships" id="258" r:id="R7b365cc0eeb04605"/>
    <p:sldId xmlns:r="http://schemas.openxmlformats.org/officeDocument/2006/relationships" id="259" r:id="Redac5090be9e4a0c"/>
    <p:sldId xmlns:r="http://schemas.openxmlformats.org/officeDocument/2006/relationships" id="260" r:id="R31db6d14145644b9"/>
  </p:sldIdLst>
  <p:sldSz cx="12192000" cy="68580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d3248ee89b2448c4" /><Relationship Type="http://schemas.openxmlformats.org/officeDocument/2006/relationships/slideMaster" Target="/ppt/slideMasters/slideMaster1.xml" Id="R4669480c5ef54973" /><Relationship Type="http://schemas.openxmlformats.org/officeDocument/2006/relationships/notesMaster" Target="/ppt/notesMasters/notesMaster1.xml" Id="R0369791b6ecd4cc6" /><Relationship Type="http://schemas.openxmlformats.org/officeDocument/2006/relationships/presProps" Target="/ppt/presProps.xml" Id="R1abe3e954c884ee8" /><Relationship Type="http://schemas.openxmlformats.org/officeDocument/2006/relationships/viewProps" Target="/ppt/viewProps.xml" Id="R0049e62647204cba" /><Relationship Type="http://schemas.openxmlformats.org/officeDocument/2006/relationships/tableStyles" Target="/ppt/tableStyles.xml" Id="R7895cbb8f3e64f81" /><Relationship Type="http://schemas.openxmlformats.org/officeDocument/2006/relationships/slide" Target="/ppt/slides/slide1.xml" Id="Rfa7d0e8792084712" /><Relationship Type="http://schemas.openxmlformats.org/officeDocument/2006/relationships/slide" Target="/ppt/slides/slide2.xml" Id="Rc5fe5caf6f7845c4" /><Relationship Type="http://schemas.openxmlformats.org/officeDocument/2006/relationships/slide" Target="/ppt/slides/slide3.xml" Id="R7b365cc0eeb04605" /><Relationship Type="http://schemas.openxmlformats.org/officeDocument/2006/relationships/slide" Target="/ppt/slides/slide4.xml" Id="Redac5090be9e4a0c" /><Relationship Type="http://schemas.openxmlformats.org/officeDocument/2006/relationships/slide" Target="/ppt/slides/slide5.xml" Id="R31db6d14145644b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8f08eeb90b64c1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d7eceb932b94989" /><Relationship Type="http://schemas.openxmlformats.org/officeDocument/2006/relationships/notesMaster" Target="/ppt/notesMasters/notesMaster1.xml" Id="R431f7f2f798046cf" /></Relationships>
</file>

<file path=ppt/notesSlides/_rels/notesSlide2.xml.rels>&#65279;<?xml version="1.0" encoding="utf-8"?><Relationships xmlns="http://schemas.openxmlformats.org/package/2006/relationships"><Relationship Type="http://schemas.openxmlformats.org/officeDocument/2006/relationships/slide" Target="/ppt/slides/slide2.xml" Id="R99a3c5289e2d46cd" /><Relationship Type="http://schemas.openxmlformats.org/officeDocument/2006/relationships/notesMaster" Target="/ppt/notesMasters/notesMaster1.xml" Id="Rcb3f1c802cf74257" /></Relationships>
</file>

<file path=ppt/notesSlides/_rels/notesSlide3.xml.rels>&#65279;<?xml version="1.0" encoding="utf-8"?><Relationships xmlns="http://schemas.openxmlformats.org/package/2006/relationships"><Relationship Type="http://schemas.openxmlformats.org/officeDocument/2006/relationships/slide" Target="/ppt/slides/slide3.xml" Id="Ra04424d0dfff45a1" /><Relationship Type="http://schemas.openxmlformats.org/officeDocument/2006/relationships/notesMaster" Target="/ppt/notesMasters/notesMaster1.xml" Id="R2321d47298dd4458" /></Relationships>
</file>

<file path=ppt/notesSlides/_rels/notesSlide4.xml.rels>&#65279;<?xml version="1.0" encoding="utf-8"?><Relationships xmlns="http://schemas.openxmlformats.org/package/2006/relationships"><Relationship Type="http://schemas.openxmlformats.org/officeDocument/2006/relationships/slide" Target="/ppt/slides/slide4.xml" Id="R95ae303814bb4804" /><Relationship Type="http://schemas.openxmlformats.org/officeDocument/2006/relationships/notesMaster" Target="/ppt/notesMasters/notesMaster1.xml" Id="R3a8d6e22b4a541fb" /></Relationships>
</file>

<file path=ppt/notesSlides/_rels/notesSlide5.xml.rels>&#65279;<?xml version="1.0" encoding="utf-8"?><Relationships xmlns="http://schemas.openxmlformats.org/package/2006/relationships"><Relationship Type="http://schemas.openxmlformats.org/officeDocument/2006/relationships/slide" Target="/ppt/slides/slide5.xml" Id="R2de945e2861444f5" /><Relationship Type="http://schemas.openxmlformats.org/officeDocument/2006/relationships/notesMaster" Target="/ppt/notesMasters/notesMaster1.xml" Id="R23327d9e8ee345c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Progress review prepared October 21, 2026. Exact presentation date next week remains to be confirmed. Team names copied from COE444_Proposal_Final.pptx. Presenter allocations follow the existing progress deck and should be confirmed by the team.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COE444_Proposal_Final.pptx slides 2–5; agent/tools.py; defense/detection.py; defense/prevention.py; METHODOLOGY.md. The code implements inference using a hosted model, not fine-tuning. Original web scope was explicitly first to cut. Four conditions are offline policies on shared trajectories. Byte provenance establishes source, not user intent. The original gate-v1 policy is unchanged for research comparability; protected live mailbox sends now also require explicit review. That adds a user interaction and is outside the old scoring protocol.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logs/run-20261013T100754Z.jsonl, independently rescored October 21. 51 records = (10 attack payloads + 7 benign tasks) x 3 trials. Rates collapse trials by payload/task majority with ties against defense. A 6/10, B 1/10, C 3/10, D 1/10. Historical software check count was 246. After ten added regression cases, the combined suite has 256 passing checks, including all 61 original defense specifications. Inventory: attacks/payloads.json has 10 dev + 13 test = 23 custom attacks; attacks/external_llmail.json has 200 external attacks. Total 223 stored. Only ten custom attacks form this table, to keep 13 custom examples held out. Fifty external attacks have a separate saved agent run; the remaining 150 external examples are not in that saved evaluation. These counts are not interchangeable. 7/7 is a task-level majority, not every trial. Development ASR 95% Wilson intervals: A 31.3–83.2%, B/D 1.8–40.4%, C 10.8–60.3%. Benign completion interval 64.6–100%. All 240 detector judgments in the dev log are cached. Same-family agent/detector is another limitation. Offline replay is preliminary evidence pending live validation. New config.py defaults OMP_NUM_THREADS to 1; local real retrieval passed. New explicit-review live flow passed deterministic tests and browser approve/reject checks with scripted model responses. No fresh hosted-model sweep ran. Source log: logs/run-20261013T100754Z.jsonl. Total 51 agent trajectories, 204 offline policy outcomes, not 204 independent agent runs.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logs/detector-external-20261012T215514Z.jsonl; results/detector_outofsample.md; results/progress_summary.md. Out-of-sample miss-rate Wilson interval 2.1–16.2%, false-alarm interval 0–1.9%. These are excerpt-classification results, not end-to-end attack success. PI-040 remains successful under both defenses because aborting the request meets its denial-of-service objective. Gate alone does not cover body or reply-channel leakage. Existing LLMail prevention evidence 0/48 excludes two agent errors; upper Wilson bound 7.4% exceeds 5%. Do not claim final combined goal achieved. Demo PI-101 trial 1: gate removes wfc@nw-partner.invalid, keeps hr@northwind.example. Attribution does not prove intent. Added live review requires user approval outside the tool surface, using exact server-stored draft bytes. Regression probes cover injected directory lookups, address mentions, tampering, replay, reject/reset and retries. This does not make gate-v1 an intent validator and does not demonstrate autonomous protection. Source of external agent figures: logs/run-20261012T202019Z.jsonl; its detector was a stub and only A/C are meaningful. Two errors excluded from 48 valid runs. No claim that all 200 external attacks were evaluated.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proposal timeline; repository state October 21; existing TEAM-PLAN.md and progress deck. Proposed recovery plan is a recommendation, not a record of work assigned or completed. Corpus has 23 custom payloads and external LLMail records. Do not assert all original milestones are fully done: custom count and training scope changed, and no held-out confirmatory run exists. Keep the held-out split unopened while tuning. Final guidelines say Week 14, while the proposal targets November 11; verify the actual course date. Added runtime default and explicit live review are locally tested. Hosted API verification and evaluation of the new live behavior are still pending. Avoid prioritizing Gmail or extra defenses before validation. Keep old logs and held-out split unchanged.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5d1c3ab4fef4a1b"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638bdff4b304db0" /><Relationship Type="http://schemas.openxmlformats.org/officeDocument/2006/relationships/slideLayout" Target="/ppt/slideLayouts/slideLayout1.xml" Id="R9f40e01225ad402a"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f40e01225ad402a"/>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fd68ddf9735048dc" /><Relationship Type="http://schemas.openxmlformats.org/officeDocument/2006/relationships/notesSlide" Target="/ppt/notesSlides/notesSlide1.xml" Id="Rba9e077c1a894af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ca1c05465bd4c4b" /><Relationship Type="http://schemas.openxmlformats.org/officeDocument/2006/relationships/notesSlide" Target="/ppt/notesSlides/notesSlide2.xml" Id="Rc1b0c9f45a7b4c6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c226c3b7645466b" /><Relationship Type="http://schemas.openxmlformats.org/officeDocument/2006/relationships/notesSlide" Target="/ppt/notesSlides/notesSlide3.xml" Id="R96d1bd002ac847f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602f1c50a9646f8" /><Relationship Type="http://schemas.openxmlformats.org/officeDocument/2006/relationships/notesSlide" Target="/ppt/notesSlides/notesSlide4.xml" Id="R007365f638254ac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a15662e1c004b33" /><Relationship Type="http://schemas.openxmlformats.org/officeDocument/2006/relationships/notesSlide" Target="/ppt/notesSlides/notesSlide5.xml" Id="Rf03a7e6846c7433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13FEC3B2-109F-4985-9BD7-6763718F397E}"/>
              </a:ext>
            </a:extLst>
          </p:cNvPr>
          <p:cNvSpPr>
            <a:spLocks xmlns:a="http://schemas.openxmlformats.org/drawingml/2006/main" noGrp="1"/>
          </p:cNvSpPr>
          <p:nvPr/>
        </p:nvSpPr>
        <p:spPr>
          <a:xfrm xmlns:a="http://schemas.openxmlformats.org/drawingml/2006/main">
            <a:off x="0" y="0"/>
            <a:ext cx="12191695" cy="2377440"/>
          </a:xfrm>
          <a:prstGeom xmlns:a="http://schemas.openxmlformats.org/drawingml/2006/main" prst="rect">
            <a:avLst/>
          </a:prstGeom>
          <a:solidFill xmlns:a="http://schemas.openxmlformats.org/drawingml/2006/main">
            <a:srgbClr val="14375E"/>
          </a:solidFill>
        </p:spPr>
      </p:sp>
      <p:sp>
        <p:nvSpPr>
          <p:cNvPr id="3" name="Text 1">
            <a:extLst xmlns:a="http://schemas.openxmlformats.org/drawingml/2006/main">
              <a:ext uri="{FF2B5EF4-FFF2-40B4-BE49-F238E27FC236}">
                <a16:creationId xmlns:a16="http://schemas.microsoft.com/office/drawing/2014/main" id="{F23ECD83-8457-44FF-959C-3164C5BCB657}"/>
              </a:ext>
            </a:extLst>
          </p:cNvPr>
          <p:cNvSpPr>
            <a:spLocks xmlns:a="http://schemas.openxmlformats.org/drawingml/2006/main" noGrp="1"/>
          </p:cNvSpPr>
          <p:nvPr/>
        </p:nvSpPr>
        <p:spPr>
          <a:xfrm xmlns:a="http://schemas.openxmlformats.org/drawingml/2006/main">
            <a:off x="731520" y="685800"/>
            <a:ext cx="10728655" cy="9144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2925" b="1">
                <a:solidFill>
                  <a:srgbClr val="FFFFFF"/>
                </a:solidFill>
              </a:defRPr>
            </a:defPPr>
            <a:lvl1pPr>
              <a:defRPr sz="2925" b="1">
                <a:solidFill>
                  <a:srgbClr val="FFFFFF"/>
                </a:solidFill>
              </a:defRPr>
            </a:lvl1pPr>
            <a:lvl2pPr>
              <a:defRPr sz="2925" b="1">
                <a:solidFill>
                  <a:srgbClr val="FFFFFF"/>
                </a:solidFill>
              </a:defRPr>
            </a:lvl2pPr>
            <a:lvl3pPr>
              <a:defRPr sz="2925" b="1">
                <a:solidFill>
                  <a:srgbClr val="FFFFFF"/>
                </a:solidFill>
              </a:defRPr>
            </a:lvl3pPr>
            <a:lvl4pPr>
              <a:defRPr sz="2925" b="1">
                <a:solidFill>
                  <a:srgbClr val="FFFFFF"/>
                </a:solidFill>
              </a:defRPr>
            </a:lvl4pPr>
            <a:lvl5pPr>
              <a:defRPr sz="2925" b="1">
                <a:solidFill>
                  <a:srgbClr val="FFFFFF"/>
                </a:solidFill>
              </a:defRPr>
            </a:lvl5pPr>
            <a:lvl6pPr>
              <a:defRPr sz="2925" b="1">
                <a:solidFill>
                  <a:srgbClr val="FFFFFF"/>
                </a:solidFill>
              </a:defRPr>
            </a:lvl6pPr>
            <a:lvl7pPr>
              <a:defRPr sz="2925" b="1">
                <a:solidFill>
                  <a:srgbClr val="FFFFFF"/>
                </a:solidFill>
              </a:defRPr>
            </a:lvl7pPr>
            <a:lvl8pPr>
              <a:defRPr sz="2925" b="1">
                <a:solidFill>
                  <a:srgbClr val="FFFFFF"/>
                </a:solidFill>
              </a:defRPr>
            </a:lvl8pPr>
            <a:lvl9pPr>
              <a:defRPr sz="2925" b="1">
                <a:solidFill>
                  <a:srgbClr val="FFFFFF"/>
                </a:solidFill>
              </a:defRPr>
            </a:lvl9pPr>
          </a:lstStyle>
          <a:p xmlns:a="http://schemas.openxmlformats.org/drawingml/2006/main">
            <a:pPr marL="0" indent="0">
              <a:buNone/>
              <a:defRPr sz="2925" b="1">
                <a:solidFill>
                  <a:srgbClr val="FFFFFF"/>
                </a:solidFill>
              </a:defRPr>
            </a:pPr>
            <a:r>
              <a:rPr sz="2925" b="1">
                <a:solidFill>
                  <a:srgbClr val="FFFFFF"/>
                </a:solidFill>
                <a:latin typeface="Calibri"/>
                <a:ea typeface="Calibri"/>
                <a:cs typeface="Calibri"/>
              </a:rPr>
              <a:t>Prompt Injection Detection &amp; Prevention</a:t>
            </a:r>
            <a:endParaRPr sz="3400"/>
          </a:p>
          <a:p xmlns:a="http://schemas.openxmlformats.org/drawingml/2006/main">
            <a:pPr marL="0" indent="0">
              <a:buNone/>
              <a:defRPr sz="2925" b="1">
                <a:solidFill>
                  <a:srgbClr val="FFFFFF"/>
                </a:solidFill>
              </a:defRPr>
            </a:pPr>
            <a:r>
              <a:rPr sz="2925" b="1">
                <a:solidFill>
                  <a:srgbClr val="FFFFFF"/>
                </a:solidFill>
                <a:latin typeface="Calibri"/>
                <a:ea typeface="Calibri"/>
                <a:cs typeface="Calibri"/>
              </a:rPr>
              <a:t>for AI Agents</a:t>
            </a:r>
            <a:endParaRPr sz="3400"/>
          </a:p>
        </p:txBody>
      </p:sp>
      <p:sp>
        <p:nvSpPr>
          <p:cNvPr id="4" name="Text 2">
            <a:extLst xmlns:a="http://schemas.openxmlformats.org/drawingml/2006/main">
              <a:ext uri="{FF2B5EF4-FFF2-40B4-BE49-F238E27FC236}">
                <a16:creationId xmlns:a16="http://schemas.microsoft.com/office/drawing/2014/main" id="{09DEFB10-78FF-4E65-84E3-98E8A894909A}"/>
              </a:ext>
            </a:extLst>
          </p:cNvPr>
          <p:cNvSpPr>
            <a:spLocks xmlns:a="http://schemas.openxmlformats.org/drawingml/2006/main" noGrp="1"/>
          </p:cNvSpPr>
          <p:nvPr/>
        </p:nvSpPr>
        <p:spPr>
          <a:xfrm xmlns:a="http://schemas.openxmlformats.org/drawingml/2006/main">
            <a:off x="731520" y="1809750"/>
            <a:ext cx="10728655"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800">
                <a:solidFill>
                  <a:srgbClr val="C9D6E3"/>
                </a:solidFill>
                <a:latin typeface="Calibri"/>
                <a:ea typeface="Calibri"/>
                <a:cs typeface="Calibri"/>
              </a:rPr>
              <a:t>Progress Presentation  |  October 2026</a:t>
            </a:r>
            <a:endParaRPr sz="1800"/>
          </a:p>
        </p:txBody>
      </p:sp>
      <p:sp>
        <p:nvSpPr>
          <p:cNvPr id="5" name="Text 3">
            <a:extLst xmlns:a="http://schemas.openxmlformats.org/drawingml/2006/main">
              <a:ext uri="{FF2B5EF4-FFF2-40B4-BE49-F238E27FC236}">
                <a16:creationId xmlns:a16="http://schemas.microsoft.com/office/drawing/2014/main" id="{51150566-EEBD-4171-96A2-94BC2A2105F0}"/>
              </a:ext>
            </a:extLst>
          </p:cNvPr>
          <p:cNvSpPr>
            <a:spLocks xmlns:a="http://schemas.openxmlformats.org/drawingml/2006/main" noGrp="1"/>
          </p:cNvSpPr>
          <p:nvPr/>
        </p:nvSpPr>
        <p:spPr>
          <a:xfrm xmlns:a="http://schemas.openxmlformats.org/drawingml/2006/main">
            <a:off x="731520" y="3017520"/>
            <a:ext cx="2743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F5C99"/>
                </a:solidFill>
                <a:latin typeface="Calibri"/>
                <a:ea typeface="Calibri"/>
                <a:cs typeface="Calibri"/>
              </a:rPr>
              <a:t>TEAM NUMBER / NAME</a:t>
            </a:r>
            <a:endParaRPr sz="1100"/>
          </a:p>
        </p:txBody>
      </p:sp>
      <p:sp>
        <p:nvSpPr>
          <p:cNvPr id="6" name="Text 4">
            <a:extLst xmlns:a="http://schemas.openxmlformats.org/drawingml/2006/main">
              <a:ext uri="{FF2B5EF4-FFF2-40B4-BE49-F238E27FC236}">
                <a16:creationId xmlns:a16="http://schemas.microsoft.com/office/drawing/2014/main" id="{AA32536B-15DE-49CB-B860-3EE9796907AF}"/>
              </a:ext>
            </a:extLst>
          </p:cNvPr>
          <p:cNvSpPr>
            <a:spLocks xmlns:a="http://schemas.openxmlformats.org/drawingml/2006/main" noGrp="1"/>
          </p:cNvSpPr>
          <p:nvPr/>
        </p:nvSpPr>
        <p:spPr>
          <a:xfrm xmlns:a="http://schemas.openxmlformats.org/drawingml/2006/main">
            <a:off x="3566160" y="3017520"/>
            <a:ext cx="6858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1A1A1A"/>
                </a:solidFill>
                <a:latin typeface="Calibri"/>
                <a:ea typeface="Calibri"/>
                <a:cs typeface="Calibri"/>
              </a:rPr>
              <a:t>Prompt Injection Detection &amp; Prevention</a:t>
            </a:r>
            <a:endParaRPr sz="1400"/>
          </a:p>
        </p:txBody>
      </p:sp>
      <p:sp>
        <p:nvSpPr>
          <p:cNvPr id="7" name="Text 5">
            <a:extLst xmlns:a="http://schemas.openxmlformats.org/drawingml/2006/main">
              <a:ext uri="{FF2B5EF4-FFF2-40B4-BE49-F238E27FC236}">
                <a16:creationId xmlns:a16="http://schemas.microsoft.com/office/drawing/2014/main" id="{0DED6867-0261-49CB-8B79-5B378FE95137}"/>
              </a:ext>
            </a:extLst>
          </p:cNvPr>
          <p:cNvSpPr>
            <a:spLocks xmlns:a="http://schemas.openxmlformats.org/drawingml/2006/main" noGrp="1"/>
          </p:cNvSpPr>
          <p:nvPr/>
        </p:nvSpPr>
        <p:spPr>
          <a:xfrm xmlns:a="http://schemas.openxmlformats.org/drawingml/2006/main">
            <a:off x="731520" y="3520440"/>
            <a:ext cx="2743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F5C99"/>
                </a:solidFill>
                <a:latin typeface="Calibri"/>
                <a:ea typeface="Calibri"/>
                <a:cs typeface="Calibri"/>
              </a:rPr>
              <a:t>TEAM MEMBERS</a:t>
            </a:r>
            <a:endParaRPr sz="1100"/>
          </a:p>
        </p:txBody>
      </p:sp>
      <p:sp>
        <p:nvSpPr>
          <p:cNvPr id="8" name="Text 6">
            <a:extLst xmlns:a="http://schemas.openxmlformats.org/drawingml/2006/main">
              <a:ext uri="{FF2B5EF4-FFF2-40B4-BE49-F238E27FC236}">
                <a16:creationId xmlns:a16="http://schemas.microsoft.com/office/drawing/2014/main" id="{855EDB05-3F9E-46E8-9718-A8CE2CA96210}"/>
              </a:ext>
            </a:extLst>
          </p:cNvPr>
          <p:cNvSpPr>
            <a:spLocks xmlns:a="http://schemas.openxmlformats.org/drawingml/2006/main" noGrp="1"/>
          </p:cNvSpPr>
          <p:nvPr/>
        </p:nvSpPr>
        <p:spPr>
          <a:xfrm xmlns:a="http://schemas.openxmlformats.org/drawingml/2006/main">
            <a:off x="3566160" y="3400425"/>
            <a:ext cx="6858000" cy="47625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defPPr>
              <a:defRPr sz="1350">
                <a:solidFill>
                  <a:srgbClr val="1A1A1A"/>
                </a:solidFill>
              </a:defRPr>
            </a:defPPr>
            <a:lvl1pPr>
              <a:defRPr sz="1350">
                <a:solidFill>
                  <a:srgbClr val="1A1A1A"/>
                </a:solidFill>
              </a:defRPr>
            </a:lvl1pPr>
            <a:lvl2pPr>
              <a:defRPr sz="1350">
                <a:solidFill>
                  <a:srgbClr val="1A1A1A"/>
                </a:solidFill>
              </a:defRPr>
            </a:lvl2pPr>
            <a:lvl3pPr>
              <a:defRPr sz="1350">
                <a:solidFill>
                  <a:srgbClr val="1A1A1A"/>
                </a:solidFill>
              </a:defRPr>
            </a:lvl3pPr>
            <a:lvl4pPr>
              <a:defRPr sz="1350">
                <a:solidFill>
                  <a:srgbClr val="1A1A1A"/>
                </a:solidFill>
              </a:defRPr>
            </a:lvl4pPr>
            <a:lvl5pPr>
              <a:defRPr sz="1350">
                <a:solidFill>
                  <a:srgbClr val="1A1A1A"/>
                </a:solidFill>
              </a:defRPr>
            </a:lvl5pPr>
            <a:lvl6pPr>
              <a:defRPr sz="1350">
                <a:solidFill>
                  <a:srgbClr val="1A1A1A"/>
                </a:solidFill>
              </a:defRPr>
            </a:lvl6pPr>
            <a:lvl7pPr>
              <a:defRPr sz="1350">
                <a:solidFill>
                  <a:srgbClr val="1A1A1A"/>
                </a:solidFill>
              </a:defRPr>
            </a:lvl7pPr>
            <a:lvl8pPr>
              <a:defRPr sz="1350">
                <a:solidFill>
                  <a:srgbClr val="1A1A1A"/>
                </a:solidFill>
              </a:defRPr>
            </a:lvl8pPr>
            <a:lvl9pPr>
              <a:defRPr sz="1350">
                <a:solidFill>
                  <a:srgbClr val="1A1A1A"/>
                </a:solidFill>
              </a:defRPr>
            </a:lvl9pPr>
          </a:lstStyle>
          <a:p xmlns:a="http://schemas.openxmlformats.org/drawingml/2006/main">
            <a:pPr marL="0" indent="0">
              <a:buNone/>
              <a:defRPr sz="1350">
                <a:solidFill>
                  <a:srgbClr val="1A1A1A"/>
                </a:solidFill>
              </a:defRPr>
            </a:pPr>
            <a:r>
              <a:rPr sz="1350">
                <a:solidFill>
                  <a:srgbClr val="1A1A1A"/>
                </a:solidFill>
                <a:latin typeface="Calibri"/>
                <a:ea typeface="Calibri"/>
                <a:cs typeface="Calibri"/>
              </a:rPr>
              <a:t>Marawan Abdalla, Youssef Abdelmoneim, Hamza Alcharif,</a:t>
            </a:r>
            <a:endParaRPr sz="1400"/>
          </a:p>
          <a:p xmlns:a="http://schemas.openxmlformats.org/drawingml/2006/main">
            <a:pPr marL="0" indent="0">
              <a:buNone/>
              <a:defRPr sz="1350">
                <a:solidFill>
                  <a:srgbClr val="1A1A1A"/>
                </a:solidFill>
              </a:defRPr>
            </a:pPr>
            <a:r>
              <a:rPr sz="1350">
                <a:solidFill>
                  <a:srgbClr val="1A1A1A"/>
                </a:solidFill>
                <a:latin typeface="Calibri"/>
                <a:ea typeface="Calibri"/>
                <a:cs typeface="Calibri"/>
              </a:rPr>
              <a:t>Kholoud Elkholy, Belal Ghanimeh</a:t>
            </a:r>
            <a:endParaRPr sz="1400"/>
          </a:p>
        </p:txBody>
      </p:sp>
      <p:sp>
        <p:nvSpPr>
          <p:cNvPr id="9" name="Text 7">
            <a:extLst xmlns:a="http://schemas.openxmlformats.org/drawingml/2006/main">
              <a:ext uri="{FF2B5EF4-FFF2-40B4-BE49-F238E27FC236}">
                <a16:creationId xmlns:a16="http://schemas.microsoft.com/office/drawing/2014/main" id="{FA0C1F00-5A71-4106-BD16-69A77346BE4A}"/>
              </a:ext>
            </a:extLst>
          </p:cNvPr>
          <p:cNvSpPr>
            <a:spLocks xmlns:a="http://schemas.openxmlformats.org/drawingml/2006/main" noGrp="1"/>
          </p:cNvSpPr>
          <p:nvPr/>
        </p:nvSpPr>
        <p:spPr>
          <a:xfrm xmlns:a="http://schemas.openxmlformats.org/drawingml/2006/main">
            <a:off x="731520" y="4023360"/>
            <a:ext cx="2743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F5C99"/>
                </a:solidFill>
                <a:latin typeface="Calibri"/>
                <a:ea typeface="Calibri"/>
                <a:cs typeface="Calibri"/>
              </a:rPr>
              <a:t>COURSE</a:t>
            </a:r>
            <a:endParaRPr sz="1100"/>
          </a:p>
        </p:txBody>
      </p:sp>
      <p:sp>
        <p:nvSpPr>
          <p:cNvPr id="10" name="Text 8">
            <a:extLst xmlns:a="http://schemas.openxmlformats.org/drawingml/2006/main">
              <a:ext uri="{FF2B5EF4-FFF2-40B4-BE49-F238E27FC236}">
                <a16:creationId xmlns:a16="http://schemas.microsoft.com/office/drawing/2014/main" id="{9BA80109-6A22-4D55-BCA5-4B199B10D642}"/>
              </a:ext>
            </a:extLst>
          </p:cNvPr>
          <p:cNvSpPr>
            <a:spLocks xmlns:a="http://schemas.openxmlformats.org/drawingml/2006/main" noGrp="1"/>
          </p:cNvSpPr>
          <p:nvPr/>
        </p:nvSpPr>
        <p:spPr>
          <a:xfrm xmlns:a="http://schemas.openxmlformats.org/drawingml/2006/main">
            <a:off x="3566160" y="4023360"/>
            <a:ext cx="6858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1A1A1A"/>
                </a:solidFill>
                <a:latin typeface="Calibri"/>
                <a:ea typeface="Calibri"/>
                <a:cs typeface="Calibri"/>
              </a:rPr>
              <a:t>COE444 — Computer Security, Fall 2026</a:t>
            </a:r>
            <a:endParaRPr sz="1400"/>
          </a:p>
        </p:txBody>
      </p:sp>
      <p:sp>
        <p:nvSpPr>
          <p:cNvPr id="11" name="Text 9">
            <a:extLst xmlns:a="http://schemas.openxmlformats.org/drawingml/2006/main">
              <a:ext uri="{FF2B5EF4-FFF2-40B4-BE49-F238E27FC236}">
                <a16:creationId xmlns:a16="http://schemas.microsoft.com/office/drawing/2014/main" id="{62326D00-257A-4FE1-8450-FA67252E902D}"/>
              </a:ext>
            </a:extLst>
          </p:cNvPr>
          <p:cNvSpPr>
            <a:spLocks xmlns:a="http://schemas.openxmlformats.org/drawingml/2006/main" noGrp="1"/>
          </p:cNvSpPr>
          <p:nvPr/>
        </p:nvSpPr>
        <p:spPr>
          <a:xfrm xmlns:a="http://schemas.openxmlformats.org/drawingml/2006/main">
            <a:off x="731520" y="4526280"/>
            <a:ext cx="2743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F5C99"/>
                </a:solidFill>
                <a:latin typeface="Calibri"/>
                <a:ea typeface="Calibri"/>
                <a:cs typeface="Calibri"/>
              </a:rPr>
              <a:t>INSTRUCTOR</a:t>
            </a:r>
            <a:endParaRPr sz="1100"/>
          </a:p>
        </p:txBody>
      </p:sp>
      <p:sp>
        <p:nvSpPr>
          <p:cNvPr id="12" name="Text 10">
            <a:extLst xmlns:a="http://schemas.openxmlformats.org/drawingml/2006/main">
              <a:ext uri="{FF2B5EF4-FFF2-40B4-BE49-F238E27FC236}">
                <a16:creationId xmlns:a16="http://schemas.microsoft.com/office/drawing/2014/main" id="{518EABA6-F046-424A-8A75-2ED41B024262}"/>
              </a:ext>
            </a:extLst>
          </p:cNvPr>
          <p:cNvSpPr>
            <a:spLocks xmlns:a="http://schemas.openxmlformats.org/drawingml/2006/main" noGrp="1"/>
          </p:cNvSpPr>
          <p:nvPr/>
        </p:nvSpPr>
        <p:spPr>
          <a:xfrm xmlns:a="http://schemas.openxmlformats.org/drawingml/2006/main">
            <a:off x="3566160" y="4526280"/>
            <a:ext cx="6858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1A1A1A"/>
                </a:solidFill>
                <a:latin typeface="Calibri"/>
                <a:ea typeface="Calibri"/>
                <a:cs typeface="Calibri"/>
              </a:rPr>
              <a:t>Dr. Dana Haj Hussein</a:t>
            </a:r>
            <a:endParaRPr sz="1400"/>
          </a:p>
        </p:txBody>
      </p:sp>
      <p:sp>
        <p:nvSpPr>
          <p:cNvPr id="13" name="Text 11">
            <a:extLst xmlns:a="http://schemas.openxmlformats.org/drawingml/2006/main">
              <a:ext uri="{FF2B5EF4-FFF2-40B4-BE49-F238E27FC236}">
                <a16:creationId xmlns:a16="http://schemas.microsoft.com/office/drawing/2014/main" id="{1C66F075-2F85-40FA-8125-44F9B8D7388B}"/>
              </a:ext>
            </a:extLst>
          </p:cNvPr>
          <p:cNvSpPr>
            <a:spLocks xmlns:a="http://schemas.openxmlformats.org/drawingml/2006/main" noGrp="1"/>
          </p:cNvSpPr>
          <p:nvPr/>
        </p:nvSpPr>
        <p:spPr>
          <a:xfrm xmlns:a="http://schemas.openxmlformats.org/drawingml/2006/main">
            <a:off x="731520" y="5029200"/>
            <a:ext cx="2743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1F5C99"/>
                </a:solidFill>
                <a:latin typeface="Calibri"/>
                <a:ea typeface="Calibri"/>
                <a:cs typeface="Calibri"/>
              </a:rPr>
              <a:t>DATE</a:t>
            </a:r>
            <a:endParaRPr sz="1100"/>
          </a:p>
        </p:txBody>
      </p:sp>
      <p:sp>
        <p:nvSpPr>
          <p:cNvPr id="14" name="Text 12">
            <a:extLst xmlns:a="http://schemas.openxmlformats.org/drawingml/2006/main">
              <a:ext uri="{FF2B5EF4-FFF2-40B4-BE49-F238E27FC236}">
                <a16:creationId xmlns:a16="http://schemas.microsoft.com/office/drawing/2014/main" id="{A31BB0DC-AB87-45B8-8D91-01CD9904A847}"/>
              </a:ext>
            </a:extLst>
          </p:cNvPr>
          <p:cNvSpPr>
            <a:spLocks xmlns:a="http://schemas.openxmlformats.org/drawingml/2006/main" noGrp="1"/>
          </p:cNvSpPr>
          <p:nvPr/>
        </p:nvSpPr>
        <p:spPr>
          <a:xfrm xmlns:a="http://schemas.openxmlformats.org/drawingml/2006/main">
            <a:off x="3566160" y="5029200"/>
            <a:ext cx="68580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rgbClr val="1A1A1A"/>
                </a:solidFill>
                <a:latin typeface="Calibri"/>
                <a:ea typeface="Calibri"/>
                <a:cs typeface="Calibri"/>
              </a:rPr>
              <a:t>Progress review: October 21, 2026</a:t>
            </a:r>
            <a:endParaRPr sz="1400"/>
          </a:p>
        </p:txBody>
      </p:sp>
      <p:sp>
        <p:nvSpPr>
          <p:cNvPr id="15" name="Text 13">
            <a:extLst xmlns:a="http://schemas.openxmlformats.org/drawingml/2006/main">
              <a:ext uri="{FF2B5EF4-FFF2-40B4-BE49-F238E27FC236}">
                <a16:creationId xmlns:a16="http://schemas.microsoft.com/office/drawing/2014/main" id="{9B2E7A21-32CD-48A1-850A-B950DD7E1C4E}"/>
              </a:ext>
            </a:extLst>
          </p:cNvPr>
          <p:cNvSpPr>
            <a:spLocks xmlns:a="http://schemas.openxmlformats.org/drawingml/2006/main" noGrp="1"/>
          </p:cNvSpPr>
          <p:nvPr/>
        </p:nvSpPr>
        <p:spPr>
          <a:xfrm xmlns:a="http://schemas.openxmlformats.org/drawingml/2006/main">
            <a:off x="457200" y="644652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5A6672"/>
                </a:solidFill>
                <a:latin typeface="Calibri"/>
                <a:ea typeface="Calibri"/>
                <a:cs typeface="Calibri"/>
              </a:rPr>
              <a:t>COE444 Computer Security  |  Progress Presentation Template</a:t>
            </a:r>
            <a:endParaRPr sz="1000"/>
          </a:p>
        </p:txBody>
      </p:sp>
      <p:sp>
        <p:nvSpPr>
          <p:cNvPr id="16" name="Text 14">
            <a:extLst xmlns:a="http://schemas.openxmlformats.org/drawingml/2006/main">
              <a:ext uri="{FF2B5EF4-FFF2-40B4-BE49-F238E27FC236}">
                <a16:creationId xmlns:a16="http://schemas.microsoft.com/office/drawing/2014/main" id="{721A1981-0E2B-4D78-BBCC-187160D297A5}"/>
              </a:ext>
            </a:extLst>
          </p:cNvPr>
          <p:cNvSpPr>
            <a:spLocks xmlns:a="http://schemas.openxmlformats.org/drawingml/2006/main" noGrp="1"/>
          </p:cNvSpPr>
          <p:nvPr/>
        </p:nvSpPr>
        <p:spPr>
          <a:xfrm xmlns:a="http://schemas.openxmlformats.org/drawingml/2006/main">
            <a:off x="11277295" y="644652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5A6672"/>
                </a:solidFill>
                <a:latin typeface="Calibri"/>
                <a:ea typeface="Calibri"/>
                <a:cs typeface="Calibri"/>
              </a:rPr>
              <a:t>1</a:t>
            </a:r>
            <a:endParaRPr sz="1000"/>
          </a:p>
        </p:txBody>
      </p:sp>
    </p:spTree>
    <p:extLst>
      <p:ext uri="{BB962C8B-B14F-4D97-AF65-F5344CB8AC3E}">
        <p14:creationId xmlns:p14="http://schemas.microsoft.com/office/powerpoint/2010/main" val="1191299619"/>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90C98DA5-2FD3-4520-B7BB-30EFAB89E0EC}"/>
              </a:ext>
            </a:extLst>
          </p:cNvPr>
          <p:cNvSpPr>
            <a:spLocks xmlns:a="http://schemas.openxmlformats.org/drawingml/2006/main" noGrp="1"/>
          </p:cNvSpPr>
          <p:nvPr/>
        </p:nvSpPr>
        <p:spPr>
          <a:xfrm xmlns:a="http://schemas.openxmlformats.org/drawingml/2006/main">
            <a:off x="731520" y="411480"/>
            <a:ext cx="5486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100">
                <a:solidFill>
                  <a:srgbClr val="1F5C99"/>
                </a:solidFill>
                <a:latin typeface="Calibri"/>
                <a:ea typeface="Calibri"/>
                <a:cs typeface="Calibri"/>
              </a:rPr>
              <a:t>SECTION 1 OF 4</a:t>
            </a:r>
            <a:endParaRPr sz="1200"/>
          </a:p>
        </p:txBody>
      </p:sp>
      <p:sp>
        <p:nvSpPr>
          <p:cNvPr id="3" name="Text 1">
            <a:extLst xmlns:a="http://schemas.openxmlformats.org/drawingml/2006/main">
              <a:ext uri="{FF2B5EF4-FFF2-40B4-BE49-F238E27FC236}">
                <a16:creationId xmlns:a16="http://schemas.microsoft.com/office/drawing/2014/main" id="{705BBB6B-C4BA-4404-B98F-640197EA9A93}"/>
              </a:ext>
            </a:extLst>
          </p:cNvPr>
          <p:cNvSpPr>
            <a:spLocks xmlns:a="http://schemas.openxmlformats.org/drawingml/2006/main" noGrp="1"/>
          </p:cNvSpPr>
          <p:nvPr/>
        </p:nvSpPr>
        <p:spPr>
          <a:xfrm xmlns:a="http://schemas.openxmlformats.org/drawingml/2006/main">
            <a:off x="8899855" y="411480"/>
            <a:ext cx="25603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i="1">
                <a:solidFill>
                  <a:srgbClr val="5A6672"/>
                </a:solidFill>
                <a:latin typeface="Calibri"/>
                <a:ea typeface="Calibri"/>
                <a:cs typeface="Calibri"/>
              </a:rPr>
              <a:t>Presented by: Marawan Abdalla</a:t>
            </a:r>
            <a:endParaRPr sz="1100"/>
          </a:p>
        </p:txBody>
      </p:sp>
      <p:sp>
        <p:nvSpPr>
          <p:cNvPr id="4" name="Text 2">
            <a:extLst xmlns:a="http://schemas.openxmlformats.org/drawingml/2006/main">
              <a:ext uri="{FF2B5EF4-FFF2-40B4-BE49-F238E27FC236}">
                <a16:creationId xmlns:a16="http://schemas.microsoft.com/office/drawing/2014/main" id="{9B955165-E3D5-4C91-8F23-E40689BE22E9}"/>
              </a:ext>
            </a:extLst>
          </p:cNvPr>
          <p:cNvSpPr>
            <a:spLocks xmlns:a="http://schemas.openxmlformats.org/drawingml/2006/main" noGrp="1"/>
          </p:cNvSpPr>
          <p:nvPr/>
        </p:nvSpPr>
        <p:spPr>
          <a:xfrm xmlns:a="http://schemas.openxmlformats.org/drawingml/2006/main">
            <a:off x="731520" y="713232"/>
            <a:ext cx="10728655"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4375E"/>
                </a:solidFill>
                <a:latin typeface="Calibri"/>
                <a:ea typeface="Calibri"/>
                <a:cs typeface="Calibri"/>
              </a:rPr>
              <a:t>Problem Formulation</a:t>
            </a:r>
            <a:endParaRPr sz="2800"/>
          </a:p>
        </p:txBody>
      </p:sp>
      <p:sp>
        <p:nvSpPr>
          <p:cNvPr id="5" name="Shape 3">
            <a:extLst xmlns:a="http://schemas.openxmlformats.org/drawingml/2006/main">
              <a:ext uri="{FF2B5EF4-FFF2-40B4-BE49-F238E27FC236}">
                <a16:creationId xmlns:a16="http://schemas.microsoft.com/office/drawing/2014/main" id="{E5A50B28-D6B2-4CDC-9B7B-0937017E3AAC}"/>
              </a:ext>
            </a:extLst>
          </p:cNvPr>
          <p:cNvSpPr>
            <a:spLocks xmlns:a="http://schemas.openxmlformats.org/drawingml/2006/main" noGrp="1"/>
          </p:cNvSpPr>
          <p:nvPr/>
        </p:nvSpPr>
        <p:spPr>
          <a:xfrm xmlns:a="http://schemas.openxmlformats.org/drawingml/2006/main">
            <a:off x="731520" y="1554480"/>
            <a:ext cx="10728655" cy="2103120"/>
          </a:xfrm>
          <a:prstGeom xmlns:a="http://schemas.openxmlformats.org/drawingml/2006/main" prst="rect">
            <a:avLst/>
          </a:prstGeom>
          <a:solidFill xmlns:a="http://schemas.openxmlformats.org/drawingml/2006/main">
            <a:srgbClr val="F2F5F9"/>
          </a:solidFill>
        </p:spPr>
      </p:sp>
      <p:sp>
        <p:nvSpPr>
          <p:cNvPr id="6" name="Text 4">
            <a:extLst xmlns:a="http://schemas.openxmlformats.org/drawingml/2006/main">
              <a:ext uri="{FF2B5EF4-FFF2-40B4-BE49-F238E27FC236}">
                <a16:creationId xmlns:a16="http://schemas.microsoft.com/office/drawing/2014/main" id="{19EF9575-5043-4D3A-99F4-7CAD33143A29}"/>
              </a:ext>
            </a:extLst>
          </p:cNvPr>
          <p:cNvSpPr>
            <a:spLocks xmlns:a="http://schemas.openxmlformats.org/drawingml/2006/main" noGrp="1"/>
          </p:cNvSpPr>
          <p:nvPr/>
        </p:nvSpPr>
        <p:spPr>
          <a:xfrm xmlns:a="http://schemas.openxmlformats.org/drawingml/2006/main">
            <a:off x="960120" y="1691640"/>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5A6672"/>
                </a:solidFill>
                <a:latin typeface="Calibri"/>
                <a:ea typeface="Calibri"/>
                <a:cs typeface="Calibri"/>
              </a:rPr>
              <a:t>PROBLEM AND REFINEMENTS</a:t>
            </a:r>
            <a:endParaRPr sz="1100"/>
          </a:p>
        </p:txBody>
      </p:sp>
      <p:sp>
        <p:nvSpPr>
          <p:cNvPr id="9" name="Text 7">
            <a:extLst xmlns:a="http://schemas.openxmlformats.org/drawingml/2006/main">
              <a:ext uri="{FF2B5EF4-FFF2-40B4-BE49-F238E27FC236}">
                <a16:creationId xmlns:a16="http://schemas.microsoft.com/office/drawing/2014/main" id="{0B77837F-663A-461C-844F-8375AC0E7946}"/>
              </a:ext>
            </a:extLst>
          </p:cNvPr>
          <p:cNvSpPr>
            <a:spLocks xmlns:a="http://schemas.openxmlformats.org/drawingml/2006/main" noGrp="1"/>
          </p:cNvSpPr>
          <p:nvPr/>
        </p:nvSpPr>
        <p:spPr>
          <a:xfrm xmlns:a="http://schemas.openxmlformats.org/drawingml/2006/main">
            <a:off x="457200" y="644652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5A6672"/>
                </a:solidFill>
                <a:latin typeface="Calibri"/>
                <a:ea typeface="Calibri"/>
                <a:cs typeface="Calibri"/>
              </a:rPr>
              <a:t>COE444 Computer Security  |  Progress Presentation Template</a:t>
            </a:r>
            <a:endParaRPr sz="1000"/>
          </a:p>
        </p:txBody>
      </p:sp>
      <p:sp>
        <p:nvSpPr>
          <p:cNvPr id="10" name="Text 8">
            <a:extLst xmlns:a="http://schemas.openxmlformats.org/drawingml/2006/main">
              <a:ext uri="{FF2B5EF4-FFF2-40B4-BE49-F238E27FC236}">
                <a16:creationId xmlns:a16="http://schemas.microsoft.com/office/drawing/2014/main" id="{D029AE14-02D3-494F-AE9F-9BD5C32B86C3}"/>
              </a:ext>
            </a:extLst>
          </p:cNvPr>
          <p:cNvSpPr>
            <a:spLocks xmlns:a="http://schemas.openxmlformats.org/drawingml/2006/main" noGrp="1"/>
          </p:cNvSpPr>
          <p:nvPr/>
        </p:nvSpPr>
        <p:spPr>
          <a:xfrm xmlns:a="http://schemas.openxmlformats.org/drawingml/2006/main">
            <a:off x="11277295" y="644652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5A6672"/>
                </a:solidFill>
                <a:latin typeface="Calibri"/>
                <a:ea typeface="Calibri"/>
                <a:cs typeface="Calibri"/>
              </a:rPr>
              <a:t>2</a:t>
            </a:r>
            <a:endParaRPr sz="1000"/>
          </a:p>
        </p:txBody>
      </p:sp>
      <p:sp>
        <p:nvSpPr>
          <p:cNvPr id="11" name="">
            <a:extLst xmlns:a="http://schemas.openxmlformats.org/drawingml/2006/main">
              <a:ext uri="{FF2B5EF4-FFF2-40B4-BE49-F238E27FC236}">
                <a16:creationId xmlns:a16="http://schemas.microsoft.com/office/drawing/2014/main" id="{44AB218A-688B-49AA-BD2C-8F334FF35E0C}"/>
              </a:ext>
            </a:extLst>
          </p:cNvPr>
          <p:cNvSpPr>
            <a:spLocks xmlns:a="http://schemas.openxmlformats.org/drawingml/2006/main" noGrp="1"/>
          </p:cNvSpPr>
          <p:nvPr/>
        </p:nvSpPr>
        <p:spPr>
          <a:xfrm xmlns:a="http://schemas.openxmlformats.org/drawingml/2006/main">
            <a:off x="960120" y="2009775"/>
            <a:ext cx="10271474"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a:solidFill>
                  <a:srgbClr val="1A1A1A"/>
                </a:solidFill>
              </a:defRPr>
            </a:defPPr>
            <a:lvl1pPr>
              <a:defRPr sz="1650">
                <a:solidFill>
                  <a:srgbClr val="1A1A1A"/>
                </a:solidFill>
              </a:defRPr>
            </a:lvl1pPr>
            <a:lvl2pPr>
              <a:defRPr sz="1650">
                <a:solidFill>
                  <a:srgbClr val="1A1A1A"/>
                </a:solidFill>
              </a:defRPr>
            </a:lvl2pPr>
            <a:lvl3pPr>
              <a:defRPr sz="1650">
                <a:solidFill>
                  <a:srgbClr val="1A1A1A"/>
                </a:solidFill>
              </a:defRPr>
            </a:lvl3pPr>
            <a:lvl4pPr>
              <a:defRPr sz="1650">
                <a:solidFill>
                  <a:srgbClr val="1A1A1A"/>
                </a:solidFill>
              </a:defRPr>
            </a:lvl4pPr>
            <a:lvl5pPr>
              <a:defRPr sz="1650">
                <a:solidFill>
                  <a:srgbClr val="1A1A1A"/>
                </a:solidFill>
              </a:defRPr>
            </a:lvl5pPr>
            <a:lvl6pPr>
              <a:defRPr sz="1650">
                <a:solidFill>
                  <a:srgbClr val="1A1A1A"/>
                </a:solidFill>
              </a:defRPr>
            </a:lvl6pPr>
            <a:lvl7pPr>
              <a:defRPr sz="1650">
                <a:solidFill>
                  <a:srgbClr val="1A1A1A"/>
                </a:solidFill>
              </a:defRPr>
            </a:lvl7pPr>
            <a:lvl8pPr>
              <a:defRPr sz="1650">
                <a:solidFill>
                  <a:srgbClr val="1A1A1A"/>
                </a:solidFill>
              </a:defRPr>
            </a:lvl8pPr>
            <a:lvl9pPr>
              <a:defRPr sz="1650">
                <a:solidFill>
                  <a:srgbClr val="1A1A1A"/>
                </a:solidFill>
              </a:defRPr>
            </a:lvl9pPr>
          </a:lstStyle>
          <a:p xmlns:a="http://schemas.openxmlformats.org/drawingml/2006/main">
            <a:pPr>
              <a:defRPr sz="1650">
                <a:solidFill>
                  <a:srgbClr val="1A1A1A"/>
                </a:solidFill>
              </a:defRPr>
            </a:pPr>
            <a:r>
              <a:rPr sz="1650">
                <a:solidFill>
                  <a:srgbClr val="1A1A1A"/>
                </a:solidFill>
              </a:rPr>
              <a:t>An attacker hides instructions in a document or email that the assistant reads.</a:t>
            </a:r>
          </a:p>
          <a:p xmlns:a="http://schemas.openxmlformats.org/drawingml/2006/main">
            <a:pPr>
              <a:defRPr sz="1650">
                <a:solidFill>
                  <a:srgbClr val="1A1A1A"/>
                </a:solidFill>
              </a:defRPr>
            </a:pPr>
            <a:r>
              <a:rPr sz="1650">
                <a:solidFill>
                  <a:srgbClr val="1A1A1A"/>
                </a:solidFill>
              </a:rPr>
              <a:t>The assistant may then disclose data, change recipients, or abandon the user’s task.</a:t>
            </a:r>
          </a:p>
        </p:txBody>
      </p:sp>
      <p:sp>
        <p:nvSpPr>
          <p:cNvPr id="12" name="">
            <a:extLst xmlns:a="http://schemas.openxmlformats.org/drawingml/2006/main">
              <a:ext uri="{FF2B5EF4-FFF2-40B4-BE49-F238E27FC236}">
                <a16:creationId xmlns:a16="http://schemas.microsoft.com/office/drawing/2014/main" id="{B726D662-8657-4C20-A1BD-E4EE325CACCF}"/>
              </a:ext>
            </a:extLst>
          </p:cNvPr>
          <p:cNvSpPr>
            <a:spLocks xmlns:a="http://schemas.openxmlformats.org/drawingml/2006/main" noGrp="1"/>
          </p:cNvSpPr>
          <p:nvPr/>
        </p:nvSpPr>
        <p:spPr>
          <a:xfrm xmlns:a="http://schemas.openxmlformats.org/drawingml/2006/main">
            <a:off x="960120" y="2809875"/>
            <a:ext cx="10271474"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a:solidFill>
                  <a:srgbClr val="1A1A1A"/>
                </a:solidFill>
              </a:defRPr>
            </a:defPPr>
            <a:lvl1pPr>
              <a:defRPr sz="1575">
                <a:solidFill>
                  <a:srgbClr val="1A1A1A"/>
                </a:solidFill>
              </a:defRPr>
            </a:lvl1pPr>
            <a:lvl2pPr>
              <a:defRPr sz="1575">
                <a:solidFill>
                  <a:srgbClr val="1A1A1A"/>
                </a:solidFill>
              </a:defRPr>
            </a:lvl2pPr>
            <a:lvl3pPr>
              <a:defRPr sz="1575">
                <a:solidFill>
                  <a:srgbClr val="1A1A1A"/>
                </a:solidFill>
              </a:defRPr>
            </a:lvl3pPr>
            <a:lvl4pPr>
              <a:defRPr sz="1575">
                <a:solidFill>
                  <a:srgbClr val="1A1A1A"/>
                </a:solidFill>
              </a:defRPr>
            </a:lvl4pPr>
            <a:lvl5pPr>
              <a:defRPr sz="1575">
                <a:solidFill>
                  <a:srgbClr val="1A1A1A"/>
                </a:solidFill>
              </a:defRPr>
            </a:lvl5pPr>
            <a:lvl6pPr>
              <a:defRPr sz="1575">
                <a:solidFill>
                  <a:srgbClr val="1A1A1A"/>
                </a:solidFill>
              </a:defRPr>
            </a:lvl6pPr>
            <a:lvl7pPr>
              <a:defRPr sz="1575">
                <a:solidFill>
                  <a:srgbClr val="1A1A1A"/>
                </a:solidFill>
              </a:defRPr>
            </a:lvl7pPr>
            <a:lvl8pPr>
              <a:defRPr sz="1575">
                <a:solidFill>
                  <a:srgbClr val="1A1A1A"/>
                </a:solidFill>
              </a:defRPr>
            </a:lvl8pPr>
            <a:lvl9pPr>
              <a:defRPr sz="1575">
                <a:solidFill>
                  <a:srgbClr val="1A1A1A"/>
                </a:solidFill>
              </a:defRPr>
            </a:lvl9pPr>
          </a:lstStyle>
          <a:p xmlns:a="http://schemas.openxmlformats.org/drawingml/2006/main">
            <a:pPr>
              <a:defRPr sz="1575">
                <a:solidFill>
                  <a:srgbClr val="1A1A1A"/>
                </a:solidFill>
              </a:defRPr>
            </a:pPr>
            <a:r>
              <a:rPr sz="1575">
                <a:solidFill>
                  <a:srgbClr val="1A1A1A"/>
                </a:solidFill>
              </a:rPr>
              <a:t>Assets: document contents and authorized email actions.</a:t>
            </a:r>
          </a:p>
          <a:p xmlns:a="http://schemas.openxmlformats.org/drawingml/2006/main">
            <a:pPr>
              <a:defRPr sz="1575">
                <a:solidFill>
                  <a:srgbClr val="1A1A1A"/>
                </a:solidFill>
              </a:defRPr>
            </a:pPr>
            <a:r>
              <a:rPr sz="1575">
                <a:solidFill>
                  <a:srgbClr val="1A1A1A"/>
                </a:solidFill>
              </a:rPr>
              <a:t>Trust boundary: external text supplies information, while the user authorizes actions.</a:t>
            </a:r>
          </a:p>
        </p:txBody>
      </p:sp>
      <p:graphicFrame>
        <p:nvGraphicFramePr>
          <p:cNvPr id="13" name="">
            <a:extLst xmlns:a="http://schemas.openxmlformats.org/drawingml/2006/main">
              <a:ext uri="{FF2B5EF4-FFF2-40B4-BE49-F238E27FC236}">
                <a16:creationId xmlns:a16="http://schemas.microsoft.com/office/drawing/2014/main" id="{2FA1D023-5575-48FD-A2CC-6AAE7C0CC340}"/>
              </a:ext>
            </a:extLst>
          </p:cNvPr>
          <p:cNvGraphicFramePr/>
          <p:nvPr/>
        </p:nvGraphicFramePr>
        <p:xfrm>
          <a:off xmlns:a="http://schemas.openxmlformats.org/drawingml/2006/main" x="731520" y="3886200"/>
          <a:ext xmlns:a="http://schemas.openxmlformats.org/drawingml/2006/main" cx="10728674" cy="2133600"/>
        </p:xfrm>
        <a:graphic xmlns:a="http://schemas.openxmlformats.org/drawingml/2006/main">
          <a:graphicData uri="http://schemas.openxmlformats.org/drawingml/2006/table">
            <a:tbl>
              <a:tblPr/>
              <a:tblGrid>
                <a:gridCol w="3143250"/>
                <a:gridCol w="7585424"/>
              </a:tblGrid>
              <a:tr h="426720">
                <a:tc>
                  <a:txBody>
                    <a:bodyPr/>
                    <a:lstStyle/>
                    <a:p>
                      <a:r>
                        <a:rPr sz="1313" b="1">
                          <a:solidFill>
                            <a:srgbClr val="FFFFFF"/>
                          </a:solidFill>
                        </a:rPr>
                        <a:t>Proposal</a:t>
                      </a:r>
                    </a:p>
                  </a:txBody>
                  <a:tcPr marL="91440" marR="91440" marT="45720" marB="45720">
                    <a:lnL w="9525">
                      <a:solidFill>
                        <a:srgbClr val="C9D6E3"/>
                      </a:solidFill>
                      <a:prstDash val="solid"/>
                    </a:lnL>
                    <a:lnR w="9525">
                      <a:solidFill>
                        <a:srgbClr val="C9D6E3"/>
                      </a:solidFill>
                      <a:prstDash val="solid"/>
                    </a:lnR>
                    <a:lnT w="9525">
                      <a:solidFill>
                        <a:srgbClr val="C9D6E3"/>
                      </a:solidFill>
                      <a:prstDash val="solid"/>
                    </a:lnT>
                    <a:lnB w="9525">
                      <a:solidFill>
                        <a:srgbClr val="C9D6E3"/>
                      </a:solidFill>
                      <a:prstDash val="solid"/>
                    </a:lnB>
                    <a:solidFill>
                      <a:srgbClr val="14375E"/>
                    </a:solidFill>
                  </a:tcPr>
                </a:tc>
                <a:tc>
                  <a:txBody>
                    <a:bodyPr/>
                    <a:lstStyle/>
                    <a:p>
                      <a:r>
                        <a:rPr sz="1313" b="1">
                          <a:solidFill>
                            <a:srgbClr val="FFFFFF"/>
                          </a:solidFill>
                        </a:rPr>
                        <a:t>Current scope and reason</a:t>
                      </a:r>
                    </a:p>
                  </a:txBody>
                  <a:tcPr marL="91440" marR="91440" marT="45720" marB="45720">
                    <a:lnR w="9525">
                      <a:solidFill>
                        <a:srgbClr val="C9D6E3"/>
                      </a:solidFill>
                      <a:prstDash val="solid"/>
                    </a:lnR>
                    <a:lnT w="9525">
                      <a:solidFill>
                        <a:srgbClr val="C9D6E3"/>
                      </a:solidFill>
                      <a:prstDash val="solid"/>
                    </a:lnT>
                    <a:lnB w="9525">
                      <a:solidFill>
                        <a:srgbClr val="C9D6E3"/>
                      </a:solidFill>
                      <a:prstDash val="solid"/>
                    </a:lnB>
                    <a:solidFill>
                      <a:srgbClr val="14375E"/>
                    </a:solidFill>
                  </a:tcPr>
                </a:tc>
              </a:tr>
              <a:tr h="426720">
                <a:tc>
                  <a:txBody>
                    <a:bodyPr/>
                    <a:lstStyle/>
                    <a:p>
                      <a:r>
                        <a:rPr sz="1313" b="0">
                          <a:solidFill>
                            <a:srgbClr val="1A1A1A"/>
                          </a:solidFill>
                        </a:rPr>
                        <a:t>Document, web and email agent</a:t>
                      </a:r>
                    </a:p>
                  </a:txBody>
                  <a:tcPr marL="91440" marR="91440" marT="45720" marB="45720">
                    <a:lnL w="9525">
                      <a:solidFill>
                        <a:srgbClr val="C9D6E3"/>
                      </a:solidFill>
                      <a:prstDash val="solid"/>
                    </a:lnL>
                    <a:lnR w="9525">
                      <a:solidFill>
                        <a:srgbClr val="C9D6E3"/>
                      </a:solidFill>
                      <a:prstDash val="solid"/>
                    </a:lnR>
                    <a:lnB w="9525">
                      <a:solidFill>
                        <a:srgbClr val="C9D6E3"/>
                      </a:solidFill>
                      <a:prstDash val="solid"/>
                    </a:lnB>
                    <a:solidFill>
                      <a:srgbClr val="FFFFFF"/>
                    </a:solidFill>
                  </a:tcPr>
                </a:tc>
                <a:tc>
                  <a:txBody>
                    <a:bodyPr/>
                    <a:lstStyle/>
                    <a:p>
                      <a:r>
                        <a:rPr sz="1313" b="0">
                          <a:solidFill>
                            <a:srgbClr val="1A1A1A"/>
                          </a:solidFill>
                        </a:rPr>
                        <a:t>Document retrieval and simulated email. Web deferred as planned.</a:t>
                      </a:r>
                    </a:p>
                  </a:txBody>
                  <a:tcPr marL="91440" marR="91440" marT="45720" marB="45720">
                    <a:lnR w="9525">
                      <a:solidFill>
                        <a:srgbClr val="C9D6E3"/>
                      </a:solidFill>
                      <a:prstDash val="solid"/>
                    </a:lnR>
                    <a:lnB w="9525">
                      <a:solidFill>
                        <a:srgbClr val="C9D6E3"/>
                      </a:solidFill>
                      <a:prstDash val="solid"/>
                    </a:lnB>
                    <a:solidFill>
                      <a:srgbClr val="FFFFFF"/>
                    </a:solidFill>
                  </a:tcPr>
                </a:tc>
              </a:tr>
              <a:tr h="426720">
                <a:tc>
                  <a:txBody>
                    <a:bodyPr/>
                    <a:lstStyle/>
                    <a:p>
                      <a:r>
                        <a:rPr sz="1313" b="0">
                          <a:solidFill>
                            <a:srgbClr val="1A1A1A"/>
                          </a:solidFill>
                        </a:rPr>
                        <a:t>Llama 3.1-8B detector</a:t>
                      </a:r>
                    </a:p>
                  </a:txBody>
                  <a:tcPr marL="91440" marR="91440" marT="45720" marB="45720">
                    <a:lnL w="9525">
                      <a:solidFill>
                        <a:srgbClr val="C9D6E3"/>
                      </a:solidFill>
                      <a:prstDash val="solid"/>
                    </a:lnL>
                    <a:lnR w="9525">
                      <a:solidFill>
                        <a:srgbClr val="C9D6E3"/>
                      </a:solidFill>
                      <a:prstDash val="solid"/>
                    </a:lnR>
                    <a:lnB w="9525">
                      <a:solidFill>
                        <a:srgbClr val="C9D6E3"/>
                      </a:solidFill>
                      <a:prstDash val="solid"/>
                    </a:lnB>
                    <a:solidFill>
                      <a:srgbClr val="FFFFFF"/>
                    </a:solidFill>
                  </a:tcPr>
                </a:tc>
                <a:tc>
                  <a:txBody>
                    <a:bodyPr/>
                    <a:lstStyle/>
                    <a:p>
                      <a:r>
                        <a:rPr sz="1313" b="0">
                          <a:solidFill>
                            <a:srgbClr val="1A1A1A"/>
                          </a:solidFill>
                        </a:rPr>
                        <a:t>Hosted gpt-oss-120b classifier. Model changed, no training claim.</a:t>
                      </a:r>
                    </a:p>
                  </a:txBody>
                  <a:tcPr marL="91440" marR="91440" marT="45720" marB="45720">
                    <a:lnR w="9525">
                      <a:solidFill>
                        <a:srgbClr val="C9D6E3"/>
                      </a:solidFill>
                      <a:prstDash val="solid"/>
                    </a:lnR>
                    <a:lnB w="9525">
                      <a:solidFill>
                        <a:srgbClr val="C9D6E3"/>
                      </a:solidFill>
                      <a:prstDash val="solid"/>
                    </a:lnB>
                    <a:solidFill>
                      <a:srgbClr val="FFFFFF"/>
                    </a:solidFill>
                  </a:tcPr>
                </a:tc>
              </a:tr>
              <a:tr h="426720">
                <a:tc>
                  <a:txBody>
                    <a:bodyPr/>
                    <a:lstStyle/>
                    <a:p>
                      <a:r>
                        <a:rPr sz="1313" b="0">
                          <a:solidFill>
                            <a:srgbClr val="1A1A1A"/>
                          </a:solidFill>
                        </a:rPr>
                        <a:t>Three conditions</a:t>
                      </a:r>
                    </a:p>
                  </a:txBody>
                  <a:tcPr marL="91440" marR="91440" marT="45720" marB="45720">
                    <a:lnL w="9525">
                      <a:solidFill>
                        <a:srgbClr val="C9D6E3"/>
                      </a:solidFill>
                      <a:prstDash val="solid"/>
                    </a:lnL>
                    <a:lnR w="9525">
                      <a:solidFill>
                        <a:srgbClr val="C9D6E3"/>
                      </a:solidFill>
                      <a:prstDash val="solid"/>
                    </a:lnR>
                    <a:lnB w="9525">
                      <a:solidFill>
                        <a:srgbClr val="C9D6E3"/>
                      </a:solidFill>
                      <a:prstDash val="solid"/>
                    </a:lnB>
                    <a:solidFill>
                      <a:srgbClr val="FFFFFF"/>
                    </a:solidFill>
                  </a:tcPr>
                </a:tc>
                <a:tc>
                  <a:txBody>
                    <a:bodyPr/>
                    <a:lstStyle/>
                    <a:p>
                      <a:r>
                        <a:rPr sz="1313" b="0">
                          <a:solidFill>
                            <a:srgbClr val="1A1A1A"/>
                          </a:solidFill>
                        </a:rPr>
                        <a:t>Four conditions add prevention-only to isolate its contribution.</a:t>
                      </a:r>
                    </a:p>
                  </a:txBody>
                  <a:tcPr marL="91440" marR="91440" marT="45720" marB="45720">
                    <a:lnR w="9525">
                      <a:solidFill>
                        <a:srgbClr val="C9D6E3"/>
                      </a:solidFill>
                      <a:prstDash val="solid"/>
                    </a:lnR>
                    <a:lnB w="9525">
                      <a:solidFill>
                        <a:srgbClr val="C9D6E3"/>
                      </a:solidFill>
                      <a:prstDash val="solid"/>
                    </a:lnB>
                    <a:solidFill>
                      <a:srgbClr val="FFFFFF"/>
                    </a:solidFill>
                  </a:tcPr>
                </a:tc>
              </a:tr>
              <a:tr h="426720">
                <a:tc>
                  <a:txBody>
                    <a:bodyPr/>
                    <a:lstStyle/>
                    <a:p>
                      <a:r>
                        <a:rPr sz="1313" b="0">
                          <a:solidFill>
                            <a:srgbClr val="1A1A1A"/>
                          </a:solidFill>
                        </a:rPr>
                        <a:t>Block document-sourced actions</a:t>
                      </a:r>
                    </a:p>
                  </a:txBody>
                  <a:tcPr marL="91440" marR="91440" marT="45720" marB="45720">
                    <a:lnL w="9525">
                      <a:solidFill>
                        <a:srgbClr val="C9D6E3"/>
                      </a:solidFill>
                      <a:prstDash val="solid"/>
                    </a:lnL>
                    <a:lnR w="9525">
                      <a:solidFill>
                        <a:srgbClr val="C9D6E3"/>
                      </a:solidFill>
                      <a:prstDash val="solid"/>
                    </a:lnR>
                    <a:lnB w="9525">
                      <a:solidFill>
                        <a:srgbClr val="C9D6E3"/>
                      </a:solidFill>
                      <a:prstDash val="solid"/>
                    </a:lnB>
                    <a:solidFill>
                      <a:srgbClr val="FFFFFF"/>
                    </a:solidFill>
                  </a:tcPr>
                </a:tc>
                <a:tc>
                  <a:txBody>
                    <a:bodyPr/>
                    <a:lstStyle/>
                    <a:p>
                      <a:r>
                        <a:rPr sz="1313" b="0">
                          <a:solidFill>
                            <a:srgbClr val="1A1A1A"/>
                          </a:solidFill>
                        </a:rPr>
                        <a:t>Recipient provenance gate plus explicit review of live sends.</a:t>
                      </a:r>
                    </a:p>
                  </a:txBody>
                  <a:tcPr marL="91440" marR="91440" marT="45720" marB="45720">
                    <a:lnR w="9525">
                      <a:solidFill>
                        <a:srgbClr val="C9D6E3"/>
                      </a:solidFill>
                      <a:prstDash val="solid"/>
                    </a:lnR>
                    <a:lnB w="9525">
                      <a:solidFill>
                        <a:srgbClr val="C9D6E3"/>
                      </a:solidFill>
                      <a:prstDash val="solid"/>
                    </a:lnB>
                    <a:solidFill>
                      <a:srgbClr val="FFFFFF"/>
                    </a:solidFill>
                  </a:tcPr>
                </a:tc>
              </a:tr>
            </a:tbl>
          </a:graphicData>
        </a:graphic>
      </p:graphicFrame>
    </p:spTree>
    <p:extLst>
      <p:ext uri="{BB962C8B-B14F-4D97-AF65-F5344CB8AC3E}">
        <p14:creationId xmlns:p14="http://schemas.microsoft.com/office/powerpoint/2010/main" val="92828153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8714F2C-5B32-4B17-842B-365DB2CD74D4}"/>
              </a:ext>
            </a:extLst>
          </p:cNvPr>
          <p:cNvSpPr>
            <a:spLocks xmlns:a="http://schemas.openxmlformats.org/drawingml/2006/main" noGrp="1"/>
          </p:cNvSpPr>
          <p:nvPr/>
        </p:nvSpPr>
        <p:spPr>
          <a:xfrm xmlns:a="http://schemas.openxmlformats.org/drawingml/2006/main">
            <a:off x="731520" y="411480"/>
            <a:ext cx="5486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100">
                <a:solidFill>
                  <a:srgbClr val="1F5C99"/>
                </a:solidFill>
                <a:latin typeface="Calibri"/>
                <a:ea typeface="Calibri"/>
                <a:cs typeface="Calibri"/>
              </a:rPr>
              <a:t>SECTION 2 OF 4</a:t>
            </a:r>
            <a:endParaRPr sz="1200"/>
          </a:p>
        </p:txBody>
      </p:sp>
      <p:sp>
        <p:nvSpPr>
          <p:cNvPr id="3" name="Text 1">
            <a:extLst xmlns:a="http://schemas.openxmlformats.org/drawingml/2006/main">
              <a:ext uri="{FF2B5EF4-FFF2-40B4-BE49-F238E27FC236}">
                <a16:creationId xmlns:a16="http://schemas.microsoft.com/office/drawing/2014/main" id="{384CF1E5-3EF8-4D8E-8545-6D9494D4E0BA}"/>
              </a:ext>
            </a:extLst>
          </p:cNvPr>
          <p:cNvSpPr>
            <a:spLocks xmlns:a="http://schemas.openxmlformats.org/drawingml/2006/main" noGrp="1"/>
          </p:cNvSpPr>
          <p:nvPr/>
        </p:nvSpPr>
        <p:spPr>
          <a:xfrm xmlns:a="http://schemas.openxmlformats.org/drawingml/2006/main">
            <a:off x="8899855" y="411480"/>
            <a:ext cx="25603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i="1">
                <a:solidFill>
                  <a:srgbClr val="5A6672"/>
                </a:solidFill>
                <a:latin typeface="Calibri"/>
                <a:ea typeface="Calibri"/>
                <a:cs typeface="Calibri"/>
              </a:rPr>
              <a:t>Presented by: Youssef + Hamza</a:t>
            </a:r>
            <a:endParaRPr sz="1100"/>
          </a:p>
        </p:txBody>
      </p:sp>
      <p:sp>
        <p:nvSpPr>
          <p:cNvPr id="4" name="Text 2">
            <a:extLst xmlns:a="http://schemas.openxmlformats.org/drawingml/2006/main">
              <a:ext uri="{FF2B5EF4-FFF2-40B4-BE49-F238E27FC236}">
                <a16:creationId xmlns:a16="http://schemas.microsoft.com/office/drawing/2014/main" id="{C4318ABC-C8D0-4417-A0A2-C5F384859B54}"/>
              </a:ext>
            </a:extLst>
          </p:cNvPr>
          <p:cNvSpPr>
            <a:spLocks xmlns:a="http://schemas.openxmlformats.org/drawingml/2006/main" noGrp="1"/>
          </p:cNvSpPr>
          <p:nvPr/>
        </p:nvSpPr>
        <p:spPr>
          <a:xfrm xmlns:a="http://schemas.openxmlformats.org/drawingml/2006/main">
            <a:off x="731520" y="713232"/>
            <a:ext cx="10728655"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4375E"/>
                </a:solidFill>
                <a:latin typeface="Calibri"/>
                <a:ea typeface="Calibri"/>
                <a:cs typeface="Calibri"/>
              </a:rPr>
              <a:t>Progress Update</a:t>
            </a:r>
            <a:endParaRPr sz="2800"/>
          </a:p>
        </p:txBody>
      </p:sp>
      <p:sp>
        <p:nvSpPr>
          <p:cNvPr id="5" name="Shape 3">
            <a:extLst xmlns:a="http://schemas.openxmlformats.org/drawingml/2006/main">
              <a:ext uri="{FF2B5EF4-FFF2-40B4-BE49-F238E27FC236}">
                <a16:creationId xmlns:a16="http://schemas.microsoft.com/office/drawing/2014/main" id="{9CC00157-E7FF-4C60-8F18-ADA7DB96261B}"/>
              </a:ext>
            </a:extLst>
          </p:cNvPr>
          <p:cNvSpPr>
            <a:spLocks xmlns:a="http://schemas.openxmlformats.org/drawingml/2006/main" noGrp="1"/>
          </p:cNvSpPr>
          <p:nvPr/>
        </p:nvSpPr>
        <p:spPr>
          <a:xfrm xmlns:a="http://schemas.openxmlformats.org/drawingml/2006/main">
            <a:off x="731520" y="1554480"/>
            <a:ext cx="10728655" cy="2103120"/>
          </a:xfrm>
          <a:prstGeom xmlns:a="http://schemas.openxmlformats.org/drawingml/2006/main" prst="rect">
            <a:avLst/>
          </a:prstGeom>
          <a:solidFill xmlns:a="http://schemas.openxmlformats.org/drawingml/2006/main">
            <a:srgbClr val="F2F5F9"/>
          </a:solidFill>
        </p:spPr>
      </p:sp>
      <p:sp>
        <p:nvSpPr>
          <p:cNvPr id="6" name="Text 4">
            <a:extLst xmlns:a="http://schemas.openxmlformats.org/drawingml/2006/main">
              <a:ext uri="{FF2B5EF4-FFF2-40B4-BE49-F238E27FC236}">
                <a16:creationId xmlns:a16="http://schemas.microsoft.com/office/drawing/2014/main" id="{47C2C4E8-B833-425B-9F5D-A910F2F06B68}"/>
              </a:ext>
            </a:extLst>
          </p:cNvPr>
          <p:cNvSpPr>
            <a:spLocks xmlns:a="http://schemas.openxmlformats.org/drawingml/2006/main" noGrp="1"/>
          </p:cNvSpPr>
          <p:nvPr/>
        </p:nvSpPr>
        <p:spPr>
          <a:xfrm xmlns:a="http://schemas.openxmlformats.org/drawingml/2006/main">
            <a:off x="960120" y="1691640"/>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5A6672"/>
                </a:solidFill>
                <a:latin typeface="Calibri"/>
                <a:ea typeface="Calibri"/>
                <a:cs typeface="Calibri"/>
              </a:rPr>
              <a:t>IMPLEMENTATION AND EVIDENCE</a:t>
            </a:r>
            <a:endParaRPr sz="1100"/>
          </a:p>
        </p:txBody>
      </p:sp>
      <p:sp>
        <p:nvSpPr>
          <p:cNvPr id="9" name="Text 7">
            <a:extLst xmlns:a="http://schemas.openxmlformats.org/drawingml/2006/main">
              <a:ext uri="{FF2B5EF4-FFF2-40B4-BE49-F238E27FC236}">
                <a16:creationId xmlns:a16="http://schemas.microsoft.com/office/drawing/2014/main" id="{BDA11AD6-D20A-4B1C-BBDD-C6047D24D88A}"/>
              </a:ext>
            </a:extLst>
          </p:cNvPr>
          <p:cNvSpPr>
            <a:spLocks xmlns:a="http://schemas.openxmlformats.org/drawingml/2006/main" noGrp="1"/>
          </p:cNvSpPr>
          <p:nvPr/>
        </p:nvSpPr>
        <p:spPr>
          <a:xfrm xmlns:a="http://schemas.openxmlformats.org/drawingml/2006/main">
            <a:off x="457200" y="644652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5A6672"/>
                </a:solidFill>
                <a:latin typeface="Calibri"/>
                <a:ea typeface="Calibri"/>
                <a:cs typeface="Calibri"/>
              </a:rPr>
              <a:t>COE444 Computer Security  |  Progress Presentation Template</a:t>
            </a:r>
            <a:endParaRPr sz="1000"/>
          </a:p>
        </p:txBody>
      </p:sp>
      <p:sp>
        <p:nvSpPr>
          <p:cNvPr id="10" name="Text 8">
            <a:extLst xmlns:a="http://schemas.openxmlformats.org/drawingml/2006/main">
              <a:ext uri="{FF2B5EF4-FFF2-40B4-BE49-F238E27FC236}">
                <a16:creationId xmlns:a16="http://schemas.microsoft.com/office/drawing/2014/main" id="{77E66292-C71C-4A4D-8A3A-70578FAD5F07}"/>
              </a:ext>
            </a:extLst>
          </p:cNvPr>
          <p:cNvSpPr>
            <a:spLocks xmlns:a="http://schemas.openxmlformats.org/drawingml/2006/main" noGrp="1"/>
          </p:cNvSpPr>
          <p:nvPr/>
        </p:nvSpPr>
        <p:spPr>
          <a:xfrm xmlns:a="http://schemas.openxmlformats.org/drawingml/2006/main">
            <a:off x="11277295" y="644652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5A6672"/>
                </a:solidFill>
                <a:latin typeface="Calibri"/>
                <a:ea typeface="Calibri"/>
                <a:cs typeface="Calibri"/>
              </a:rPr>
              <a:t>3</a:t>
            </a:r>
            <a:endParaRPr sz="1000"/>
          </a:p>
        </p:txBody>
      </p:sp>
      <p:sp>
        <p:nvSpPr>
          <p:cNvPr id="11" name="">
            <a:extLst xmlns:a="http://schemas.openxmlformats.org/drawingml/2006/main">
              <a:ext uri="{FF2B5EF4-FFF2-40B4-BE49-F238E27FC236}">
                <a16:creationId xmlns:a16="http://schemas.microsoft.com/office/drawing/2014/main" id="{D8DF0850-A314-46D8-A52A-D7AEC497031A}"/>
              </a:ext>
            </a:extLst>
          </p:cNvPr>
          <p:cNvSpPr>
            <a:spLocks xmlns:a="http://schemas.openxmlformats.org/drawingml/2006/main" noGrp="1"/>
          </p:cNvSpPr>
          <p:nvPr/>
        </p:nvSpPr>
        <p:spPr>
          <a:xfrm xmlns:a="http://schemas.openxmlformats.org/drawingml/2006/main">
            <a:off x="960120" y="2009775"/>
            <a:ext cx="10271474"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a:solidFill>
                  <a:srgbClr val="1A1A1A"/>
                </a:solidFill>
              </a:defRPr>
            </a:defPPr>
            <a:lvl1pPr>
              <a:defRPr sz="1575">
                <a:solidFill>
                  <a:srgbClr val="1A1A1A"/>
                </a:solidFill>
              </a:defRPr>
            </a:lvl1pPr>
            <a:lvl2pPr>
              <a:defRPr sz="1575">
                <a:solidFill>
                  <a:srgbClr val="1A1A1A"/>
                </a:solidFill>
              </a:defRPr>
            </a:lvl2pPr>
            <a:lvl3pPr>
              <a:defRPr sz="1575">
                <a:solidFill>
                  <a:srgbClr val="1A1A1A"/>
                </a:solidFill>
              </a:defRPr>
            </a:lvl3pPr>
            <a:lvl4pPr>
              <a:defRPr sz="1575">
                <a:solidFill>
                  <a:srgbClr val="1A1A1A"/>
                </a:solidFill>
              </a:defRPr>
            </a:lvl4pPr>
            <a:lvl5pPr>
              <a:defRPr sz="1575">
                <a:solidFill>
                  <a:srgbClr val="1A1A1A"/>
                </a:solidFill>
              </a:defRPr>
            </a:lvl5pPr>
            <a:lvl6pPr>
              <a:defRPr sz="1575">
                <a:solidFill>
                  <a:srgbClr val="1A1A1A"/>
                </a:solidFill>
              </a:defRPr>
            </a:lvl6pPr>
            <a:lvl7pPr>
              <a:defRPr sz="1575">
                <a:solidFill>
                  <a:srgbClr val="1A1A1A"/>
                </a:solidFill>
              </a:defRPr>
            </a:lvl7pPr>
            <a:lvl8pPr>
              <a:defRPr sz="1575">
                <a:solidFill>
                  <a:srgbClr val="1A1A1A"/>
                </a:solidFill>
              </a:defRPr>
            </a:lvl8pPr>
            <a:lvl9pPr>
              <a:defRPr sz="1575">
                <a:solidFill>
                  <a:srgbClr val="1A1A1A"/>
                </a:solidFill>
              </a:defRPr>
            </a:lvl9pPr>
          </a:lstStyle>
          <a:p xmlns:a="http://schemas.openxmlformats.org/drawingml/2006/main">
            <a:pPr>
              <a:defRPr sz="1575">
                <a:solidFill>
                  <a:srgbClr val="1A1A1A"/>
                </a:solidFill>
              </a:defRPr>
            </a:pPr>
            <a:r>
              <a:rPr sz="1575">
                <a:solidFill>
                  <a:srgbClr val="1A1A1A"/>
                </a:solidFill>
              </a:rPr>
              <a:t>Built: document search, contact lookup, simulated mailbox, detector and recipient gate.</a:t>
            </a:r>
          </a:p>
          <a:p xmlns:a="http://schemas.openxmlformats.org/drawingml/2006/main">
            <a:pPr>
              <a:defRPr sz="1575">
                <a:solidFill>
                  <a:srgbClr val="1A1A1A"/>
                </a:solidFill>
              </a:defRPr>
            </a:pPr>
            <a:r>
              <a:rPr sz="1575">
                <a:solidFill>
                  <a:srgbClr val="1A1A1A"/>
                </a:solidFill>
              </a:rPr>
              <a:t>Software verification: 256 automated checks pass, including 61 defense specifications.</a:t>
            </a:r>
          </a:p>
        </p:txBody>
      </p:sp>
      <p:sp>
        <p:nvSpPr>
          <p:cNvPr id="12" name="">
            <a:extLst xmlns:a="http://schemas.openxmlformats.org/drawingml/2006/main">
              <a:ext uri="{FF2B5EF4-FFF2-40B4-BE49-F238E27FC236}">
                <a16:creationId xmlns:a16="http://schemas.microsoft.com/office/drawing/2014/main" id="{B6B3BA21-B8B3-4980-ACC4-AAB26C090C38}"/>
              </a:ext>
            </a:extLst>
          </p:cNvPr>
          <p:cNvSpPr>
            <a:spLocks xmlns:a="http://schemas.openxmlformats.org/drawingml/2006/main" noGrp="1"/>
          </p:cNvSpPr>
          <p:nvPr/>
        </p:nvSpPr>
        <p:spPr>
          <a:xfrm xmlns:a="http://schemas.openxmlformats.org/drawingml/2006/main">
            <a:off x="960120" y="2724150"/>
            <a:ext cx="10271474"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a:solidFill>
                  <a:srgbClr val="1A1A1A"/>
                </a:solidFill>
              </a:defRPr>
            </a:defPPr>
            <a:lvl1pPr>
              <a:defRPr sz="1575">
                <a:solidFill>
                  <a:srgbClr val="1A1A1A"/>
                </a:solidFill>
              </a:defRPr>
            </a:lvl1pPr>
            <a:lvl2pPr>
              <a:defRPr sz="1575">
                <a:solidFill>
                  <a:srgbClr val="1A1A1A"/>
                </a:solidFill>
              </a:defRPr>
            </a:lvl2pPr>
            <a:lvl3pPr>
              <a:defRPr sz="1575">
                <a:solidFill>
                  <a:srgbClr val="1A1A1A"/>
                </a:solidFill>
              </a:defRPr>
            </a:lvl3pPr>
            <a:lvl4pPr>
              <a:defRPr sz="1575">
                <a:solidFill>
                  <a:srgbClr val="1A1A1A"/>
                </a:solidFill>
              </a:defRPr>
            </a:lvl4pPr>
            <a:lvl5pPr>
              <a:defRPr sz="1575">
                <a:solidFill>
                  <a:srgbClr val="1A1A1A"/>
                </a:solidFill>
              </a:defRPr>
            </a:lvl5pPr>
            <a:lvl6pPr>
              <a:defRPr sz="1575">
                <a:solidFill>
                  <a:srgbClr val="1A1A1A"/>
                </a:solidFill>
              </a:defRPr>
            </a:lvl6pPr>
            <a:lvl7pPr>
              <a:defRPr sz="1575">
                <a:solidFill>
                  <a:srgbClr val="1A1A1A"/>
                </a:solidFill>
              </a:defRPr>
            </a:lvl7pPr>
            <a:lvl8pPr>
              <a:defRPr sz="1575">
                <a:solidFill>
                  <a:srgbClr val="1A1A1A"/>
                </a:solidFill>
              </a:defRPr>
            </a:lvl8pPr>
            <a:lvl9pPr>
              <a:defRPr sz="1575">
                <a:solidFill>
                  <a:srgbClr val="1A1A1A"/>
                </a:solidFill>
              </a:defRPr>
            </a:lvl9pPr>
          </a:lstStyle>
          <a:p xmlns:a="http://schemas.openxmlformats.org/drawingml/2006/main">
            <a:pPr>
              <a:defRPr sz="1575">
                <a:solidFill>
                  <a:srgbClr val="1A1A1A"/>
                </a:solidFill>
              </a:defRPr>
            </a:pPr>
            <a:r>
              <a:rPr sz="1575">
                <a:solidFill>
                  <a:srgbClr val="1A1A1A"/>
                </a:solidFill>
              </a:rPr>
              <a:t>Stored attacks: 223 = 23 custom (10 dev + 13 held out) + 200 external.</a:t>
            </a:r>
          </a:p>
          <a:p xmlns:a="http://schemas.openxmlformats.org/drawingml/2006/main">
            <a:pPr>
              <a:defRPr sz="1575">
                <a:solidFill>
                  <a:srgbClr val="1A1A1A"/>
                </a:solidFill>
              </a:defRPr>
            </a:pPr>
            <a:r>
              <a:rPr sz="1575">
                <a:solidFill>
                  <a:srgbClr val="1A1A1A"/>
                </a:solidFill>
              </a:rPr>
              <a:t>Table below: 10 dev attacks and 7 benign tasks, each repeated 3 times.</a:t>
            </a:r>
          </a:p>
        </p:txBody>
      </p:sp>
      <p:graphicFrame>
        <p:nvGraphicFramePr>
          <p:cNvPr id="13" name="">
            <a:extLst xmlns:a="http://schemas.openxmlformats.org/drawingml/2006/main">
              <a:ext uri="{FF2B5EF4-FFF2-40B4-BE49-F238E27FC236}">
                <a16:creationId xmlns:a16="http://schemas.microsoft.com/office/drawing/2014/main" id="{B07A06ED-42F5-4934-9302-2F8A85DC73C1}"/>
              </a:ext>
            </a:extLst>
          </p:cNvPr>
          <p:cNvGraphicFramePr/>
          <p:nvPr/>
        </p:nvGraphicFramePr>
        <p:xfrm>
          <a:off xmlns:a="http://schemas.openxmlformats.org/drawingml/2006/main" x="731520" y="3476625"/>
          <a:ext xmlns:a="http://schemas.openxmlformats.org/drawingml/2006/main" cx="10728674" cy="2019300"/>
        </p:xfrm>
        <a:graphic xmlns:a="http://schemas.openxmlformats.org/drawingml/2006/main">
          <a:graphicData uri="http://schemas.openxmlformats.org/drawingml/2006/table">
            <a:tbl>
              <a:tblPr/>
              <a:tblGrid>
                <a:gridCol w="4286250"/>
                <a:gridCol w="2857500"/>
                <a:gridCol w="3584924"/>
              </a:tblGrid>
              <a:tr h="403860">
                <a:tc>
                  <a:txBody>
                    <a:bodyPr/>
                    <a:lstStyle/>
                    <a:p>
                      <a:r>
                        <a:rPr sz="1313" b="1">
                          <a:solidFill>
                            <a:srgbClr val="FFFFFF"/>
                          </a:solidFill>
                        </a:rPr>
                        <a:t>Historical condition</a:t>
                      </a:r>
                    </a:p>
                  </a:txBody>
                  <a:tcPr marL="91440" marR="91440" marT="45720" marB="45720">
                    <a:lnL w="9525">
                      <a:solidFill>
                        <a:srgbClr val="C9D6E3"/>
                      </a:solidFill>
                      <a:prstDash val="solid"/>
                    </a:lnL>
                    <a:lnR w="9525">
                      <a:solidFill>
                        <a:srgbClr val="C9D6E3"/>
                      </a:solidFill>
                      <a:prstDash val="solid"/>
                    </a:lnR>
                    <a:lnT w="9525">
                      <a:solidFill>
                        <a:srgbClr val="C9D6E3"/>
                      </a:solidFill>
                      <a:prstDash val="solid"/>
                    </a:lnT>
                    <a:lnB w="9525">
                      <a:solidFill>
                        <a:srgbClr val="C9D6E3"/>
                      </a:solidFill>
                      <a:prstDash val="solid"/>
                    </a:lnB>
                    <a:solidFill>
                      <a:srgbClr val="14375E"/>
                    </a:solidFill>
                  </a:tcPr>
                </a:tc>
                <a:tc>
                  <a:txBody>
                    <a:bodyPr/>
                    <a:lstStyle/>
                    <a:p>
                      <a:r>
                        <a:rPr sz="1313" b="1">
                          <a:solidFill>
                            <a:srgbClr val="FFFFFF"/>
                          </a:solidFill>
                        </a:rPr>
                        <a:t>Attack success by majority</a:t>
                      </a:r>
                    </a:p>
                  </a:txBody>
                  <a:tcPr marL="91440" marR="91440" marT="45720" marB="45720">
                    <a:lnR w="9525">
                      <a:solidFill>
                        <a:srgbClr val="C9D6E3"/>
                      </a:solidFill>
                      <a:prstDash val="solid"/>
                    </a:lnR>
                    <a:lnT w="9525">
                      <a:solidFill>
                        <a:srgbClr val="C9D6E3"/>
                      </a:solidFill>
                      <a:prstDash val="solid"/>
                    </a:lnT>
                    <a:lnB w="9525">
                      <a:solidFill>
                        <a:srgbClr val="C9D6E3"/>
                      </a:solidFill>
                      <a:prstDash val="solid"/>
                    </a:lnB>
                    <a:solidFill>
                      <a:srgbClr val="14375E"/>
                    </a:solidFill>
                  </a:tcPr>
                </a:tc>
                <a:tc>
                  <a:txBody>
                    <a:bodyPr/>
                    <a:lstStyle/>
                    <a:p>
                      <a:r>
                        <a:rPr sz="1313" b="1">
                          <a:solidFill>
                            <a:srgbClr val="FFFFFF"/>
                          </a:solidFill>
                        </a:rPr>
                        <a:t>Benign tasks by majority</a:t>
                      </a:r>
                    </a:p>
                  </a:txBody>
                  <a:tcPr marL="91440" marR="91440" marT="45720" marB="45720">
                    <a:lnR w="9525">
                      <a:solidFill>
                        <a:srgbClr val="C9D6E3"/>
                      </a:solidFill>
                      <a:prstDash val="solid"/>
                    </a:lnR>
                    <a:lnT w="9525">
                      <a:solidFill>
                        <a:srgbClr val="C9D6E3"/>
                      </a:solidFill>
                      <a:prstDash val="solid"/>
                    </a:lnT>
                    <a:lnB w="9525">
                      <a:solidFill>
                        <a:srgbClr val="C9D6E3"/>
                      </a:solidFill>
                      <a:prstDash val="solid"/>
                    </a:lnB>
                    <a:solidFill>
                      <a:srgbClr val="14375E"/>
                    </a:solidFill>
                  </a:tcPr>
                </a:tc>
              </a:tr>
              <a:tr h="403860">
                <a:tc>
                  <a:txBody>
                    <a:bodyPr/>
                    <a:lstStyle/>
                    <a:p>
                      <a:r>
                        <a:rPr sz="1313" b="0">
                          <a:solidFill>
                            <a:srgbClr val="1A1A1A"/>
                          </a:solidFill>
                        </a:rPr>
                        <a:t>A: no defense</a:t>
                      </a:r>
                    </a:p>
                  </a:txBody>
                  <a:tcPr marL="91440" marR="91440" marT="45720" marB="45720">
                    <a:lnL w="9525">
                      <a:solidFill>
                        <a:srgbClr val="C9D6E3"/>
                      </a:solidFill>
                      <a:prstDash val="solid"/>
                    </a:lnL>
                    <a:lnR w="9525">
                      <a:solidFill>
                        <a:srgbClr val="C9D6E3"/>
                      </a:solidFill>
                      <a:prstDash val="solid"/>
                    </a:lnR>
                    <a:lnB w="9525">
                      <a:solidFill>
                        <a:srgbClr val="C9D6E3"/>
                      </a:solidFill>
                      <a:prstDash val="solid"/>
                    </a:lnB>
                    <a:solidFill>
                      <a:srgbClr val="FFFFFF"/>
                    </a:solidFill>
                  </a:tcPr>
                </a:tc>
                <a:tc>
                  <a:txBody>
                    <a:bodyPr/>
                    <a:lstStyle/>
                    <a:p>
                      <a:r>
                        <a:rPr sz="1313" b="0">
                          <a:solidFill>
                            <a:srgbClr val="1A1A1A"/>
                          </a:solidFill>
                        </a:rPr>
                        <a:t>6/10 (60%)</a:t>
                      </a:r>
                    </a:p>
                  </a:txBody>
                  <a:tcPr marL="91440" marR="91440" marT="45720" marB="45720">
                    <a:lnR w="9525">
                      <a:solidFill>
                        <a:srgbClr val="C9D6E3"/>
                      </a:solidFill>
                      <a:prstDash val="solid"/>
                    </a:lnR>
                    <a:lnB w="9525">
                      <a:solidFill>
                        <a:srgbClr val="C9D6E3"/>
                      </a:solidFill>
                      <a:prstDash val="solid"/>
                    </a:lnB>
                    <a:solidFill>
                      <a:srgbClr val="FFFFFF"/>
                    </a:solidFill>
                  </a:tcPr>
                </a:tc>
                <a:tc>
                  <a:txBody>
                    <a:bodyPr/>
                    <a:lstStyle/>
                    <a:p>
                      <a:r>
                        <a:rPr sz="1313" b="0">
                          <a:solidFill>
                            <a:srgbClr val="1A1A1A"/>
                          </a:solidFill>
                        </a:rPr>
                        <a:t>7/7</a:t>
                      </a:r>
                    </a:p>
                  </a:txBody>
                  <a:tcPr marL="91440" marR="91440" marT="45720" marB="45720">
                    <a:lnR w="9525">
                      <a:solidFill>
                        <a:srgbClr val="C9D6E3"/>
                      </a:solidFill>
                      <a:prstDash val="solid"/>
                    </a:lnR>
                    <a:lnB w="9525">
                      <a:solidFill>
                        <a:srgbClr val="C9D6E3"/>
                      </a:solidFill>
                      <a:prstDash val="solid"/>
                    </a:lnB>
                    <a:solidFill>
                      <a:srgbClr val="FFFFFF"/>
                    </a:solidFill>
                  </a:tcPr>
                </a:tc>
              </a:tr>
              <a:tr h="403860">
                <a:tc>
                  <a:txBody>
                    <a:bodyPr/>
                    <a:lstStyle/>
                    <a:p>
                      <a:r>
                        <a:rPr sz="1313" b="0">
                          <a:solidFill>
                            <a:srgbClr val="1A1A1A"/>
                          </a:solidFill>
                        </a:rPr>
                        <a:t>B: detection only</a:t>
                      </a:r>
                    </a:p>
                  </a:txBody>
                  <a:tcPr marL="91440" marR="91440" marT="45720" marB="45720">
                    <a:lnL w="9525">
                      <a:solidFill>
                        <a:srgbClr val="C9D6E3"/>
                      </a:solidFill>
                      <a:prstDash val="solid"/>
                    </a:lnL>
                    <a:lnR w="9525">
                      <a:solidFill>
                        <a:srgbClr val="C9D6E3"/>
                      </a:solidFill>
                      <a:prstDash val="solid"/>
                    </a:lnR>
                    <a:lnB w="9525">
                      <a:solidFill>
                        <a:srgbClr val="C9D6E3"/>
                      </a:solidFill>
                      <a:prstDash val="solid"/>
                    </a:lnB>
                    <a:solidFill>
                      <a:srgbClr val="FFFFFF"/>
                    </a:solidFill>
                  </a:tcPr>
                </a:tc>
                <a:tc>
                  <a:txBody>
                    <a:bodyPr/>
                    <a:lstStyle/>
                    <a:p>
                      <a:r>
                        <a:rPr sz="1313" b="0">
                          <a:solidFill>
                            <a:srgbClr val="1A1A1A"/>
                          </a:solidFill>
                        </a:rPr>
                        <a:t>1/10 (10%)</a:t>
                      </a:r>
                    </a:p>
                  </a:txBody>
                  <a:tcPr marL="91440" marR="91440" marT="45720" marB="45720">
                    <a:lnR w="9525">
                      <a:solidFill>
                        <a:srgbClr val="C9D6E3"/>
                      </a:solidFill>
                      <a:prstDash val="solid"/>
                    </a:lnR>
                    <a:lnB w="9525">
                      <a:solidFill>
                        <a:srgbClr val="C9D6E3"/>
                      </a:solidFill>
                      <a:prstDash val="solid"/>
                    </a:lnB>
                    <a:solidFill>
                      <a:srgbClr val="FFFFFF"/>
                    </a:solidFill>
                  </a:tcPr>
                </a:tc>
                <a:tc>
                  <a:txBody>
                    <a:bodyPr/>
                    <a:lstStyle/>
                    <a:p>
                      <a:r>
                        <a:rPr sz="1313" b="0">
                          <a:solidFill>
                            <a:srgbClr val="1A1A1A"/>
                          </a:solidFill>
                        </a:rPr>
                        <a:t>7/7</a:t>
                      </a:r>
                    </a:p>
                  </a:txBody>
                  <a:tcPr marL="91440" marR="91440" marT="45720" marB="45720">
                    <a:lnR w="9525">
                      <a:solidFill>
                        <a:srgbClr val="C9D6E3"/>
                      </a:solidFill>
                      <a:prstDash val="solid"/>
                    </a:lnR>
                    <a:lnB w="9525">
                      <a:solidFill>
                        <a:srgbClr val="C9D6E3"/>
                      </a:solidFill>
                      <a:prstDash val="solid"/>
                    </a:lnB>
                    <a:solidFill>
                      <a:srgbClr val="FFFFFF"/>
                    </a:solidFill>
                  </a:tcPr>
                </a:tc>
              </a:tr>
              <a:tr h="403860">
                <a:tc>
                  <a:txBody>
                    <a:bodyPr/>
                    <a:lstStyle/>
                    <a:p>
                      <a:r>
                        <a:rPr sz="1313" b="0">
                          <a:solidFill>
                            <a:srgbClr val="1A1A1A"/>
                          </a:solidFill>
                        </a:rPr>
                        <a:t>C: prevention only</a:t>
                      </a:r>
                    </a:p>
                  </a:txBody>
                  <a:tcPr marL="91440" marR="91440" marT="45720" marB="45720">
                    <a:lnL w="9525">
                      <a:solidFill>
                        <a:srgbClr val="C9D6E3"/>
                      </a:solidFill>
                      <a:prstDash val="solid"/>
                    </a:lnL>
                    <a:lnR w="9525">
                      <a:solidFill>
                        <a:srgbClr val="C9D6E3"/>
                      </a:solidFill>
                      <a:prstDash val="solid"/>
                    </a:lnR>
                    <a:lnB w="9525">
                      <a:solidFill>
                        <a:srgbClr val="C9D6E3"/>
                      </a:solidFill>
                      <a:prstDash val="solid"/>
                    </a:lnB>
                    <a:solidFill>
                      <a:srgbClr val="FFFFFF"/>
                    </a:solidFill>
                  </a:tcPr>
                </a:tc>
                <a:tc>
                  <a:txBody>
                    <a:bodyPr/>
                    <a:lstStyle/>
                    <a:p>
                      <a:r>
                        <a:rPr sz="1313" b="0">
                          <a:solidFill>
                            <a:srgbClr val="1A1A1A"/>
                          </a:solidFill>
                        </a:rPr>
                        <a:t>3/10 (30%)</a:t>
                      </a:r>
                    </a:p>
                  </a:txBody>
                  <a:tcPr marL="91440" marR="91440" marT="45720" marB="45720">
                    <a:lnR w="9525">
                      <a:solidFill>
                        <a:srgbClr val="C9D6E3"/>
                      </a:solidFill>
                      <a:prstDash val="solid"/>
                    </a:lnR>
                    <a:lnB w="9525">
                      <a:solidFill>
                        <a:srgbClr val="C9D6E3"/>
                      </a:solidFill>
                      <a:prstDash val="solid"/>
                    </a:lnB>
                    <a:solidFill>
                      <a:srgbClr val="FFFFFF"/>
                    </a:solidFill>
                  </a:tcPr>
                </a:tc>
                <a:tc>
                  <a:txBody>
                    <a:bodyPr/>
                    <a:lstStyle/>
                    <a:p>
                      <a:r>
                        <a:rPr sz="1313" b="0">
                          <a:solidFill>
                            <a:srgbClr val="1A1A1A"/>
                          </a:solidFill>
                        </a:rPr>
                        <a:t>7/7</a:t>
                      </a:r>
                    </a:p>
                  </a:txBody>
                  <a:tcPr marL="91440" marR="91440" marT="45720" marB="45720">
                    <a:lnR w="9525">
                      <a:solidFill>
                        <a:srgbClr val="C9D6E3"/>
                      </a:solidFill>
                      <a:prstDash val="solid"/>
                    </a:lnR>
                    <a:lnB w="9525">
                      <a:solidFill>
                        <a:srgbClr val="C9D6E3"/>
                      </a:solidFill>
                      <a:prstDash val="solid"/>
                    </a:lnB>
                    <a:solidFill>
                      <a:srgbClr val="FFFFFF"/>
                    </a:solidFill>
                  </a:tcPr>
                </a:tc>
              </a:tr>
              <a:tr h="403860">
                <a:tc>
                  <a:txBody>
                    <a:bodyPr/>
                    <a:lstStyle/>
                    <a:p>
                      <a:r>
                        <a:rPr sz="1313" b="0">
                          <a:solidFill>
                            <a:srgbClr val="1A1A1A"/>
                          </a:solidFill>
                        </a:rPr>
                        <a:t>D: both defenses</a:t>
                      </a:r>
                    </a:p>
                  </a:txBody>
                  <a:tcPr marL="91440" marR="91440" marT="45720" marB="45720">
                    <a:lnL w="9525">
                      <a:solidFill>
                        <a:srgbClr val="C9D6E3"/>
                      </a:solidFill>
                      <a:prstDash val="solid"/>
                    </a:lnL>
                    <a:lnR w="9525">
                      <a:solidFill>
                        <a:srgbClr val="C9D6E3"/>
                      </a:solidFill>
                      <a:prstDash val="solid"/>
                    </a:lnR>
                    <a:lnB w="9525">
                      <a:solidFill>
                        <a:srgbClr val="C9D6E3"/>
                      </a:solidFill>
                      <a:prstDash val="solid"/>
                    </a:lnB>
                    <a:solidFill>
                      <a:srgbClr val="FFFFFF"/>
                    </a:solidFill>
                  </a:tcPr>
                </a:tc>
                <a:tc>
                  <a:txBody>
                    <a:bodyPr/>
                    <a:lstStyle/>
                    <a:p>
                      <a:r>
                        <a:rPr sz="1313" b="0">
                          <a:solidFill>
                            <a:srgbClr val="1A1A1A"/>
                          </a:solidFill>
                        </a:rPr>
                        <a:t>1/10 (10%)</a:t>
                      </a:r>
                    </a:p>
                  </a:txBody>
                  <a:tcPr marL="91440" marR="91440" marT="45720" marB="45720">
                    <a:lnR w="9525">
                      <a:solidFill>
                        <a:srgbClr val="C9D6E3"/>
                      </a:solidFill>
                      <a:prstDash val="solid"/>
                    </a:lnR>
                    <a:lnB w="9525">
                      <a:solidFill>
                        <a:srgbClr val="C9D6E3"/>
                      </a:solidFill>
                      <a:prstDash val="solid"/>
                    </a:lnB>
                    <a:solidFill>
                      <a:srgbClr val="FFFFFF"/>
                    </a:solidFill>
                  </a:tcPr>
                </a:tc>
                <a:tc>
                  <a:txBody>
                    <a:bodyPr/>
                    <a:lstStyle/>
                    <a:p>
                      <a:r>
                        <a:rPr sz="1313" b="0">
                          <a:solidFill>
                            <a:srgbClr val="1A1A1A"/>
                          </a:solidFill>
                        </a:rPr>
                        <a:t>7/7</a:t>
                      </a:r>
                    </a:p>
                  </a:txBody>
                  <a:tcPr marL="91440" marR="91440" marT="45720" marB="45720">
                    <a:lnR w="9525">
                      <a:solidFill>
                        <a:srgbClr val="C9D6E3"/>
                      </a:solidFill>
                      <a:prstDash val="solid"/>
                    </a:lnR>
                    <a:lnB w="9525">
                      <a:solidFill>
                        <a:srgbClr val="C9D6E3"/>
                      </a:solidFill>
                      <a:prstDash val="solid"/>
                    </a:lnB>
                    <a:solidFill>
                      <a:srgbClr val="FFFFFF"/>
                    </a:solidFill>
                  </a:tcPr>
                </a:tc>
              </a:tr>
            </a:tbl>
          </a:graphicData>
        </a:graphic>
      </p:graphicFrame>
      <p:sp>
        <p:nvSpPr>
          <p:cNvPr id="14" name="">
            <a:extLst xmlns:a="http://schemas.openxmlformats.org/drawingml/2006/main">
              <a:ext uri="{FF2B5EF4-FFF2-40B4-BE49-F238E27FC236}">
                <a16:creationId xmlns:a16="http://schemas.microsoft.com/office/drawing/2014/main" id="{DC35F669-7BA4-4C56-8E33-B0FAF8F8B969}"/>
              </a:ext>
            </a:extLst>
          </p:cNvPr>
          <p:cNvSpPr>
            <a:spLocks xmlns:a="http://schemas.openxmlformats.org/drawingml/2006/main" noGrp="1"/>
          </p:cNvSpPr>
          <p:nvPr/>
        </p:nvSpPr>
        <p:spPr>
          <a:xfrm xmlns:a="http://schemas.openxmlformats.org/drawingml/2006/main">
            <a:off x="960120" y="5638800"/>
            <a:ext cx="10271474"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400">
                <a:solidFill>
                  <a:srgbClr val="1A1A1A"/>
                </a:solidFill>
              </a:defRPr>
            </a:defPPr>
            <a:lvl1pPr>
              <a:defRPr sz="1400">
                <a:solidFill>
                  <a:srgbClr val="1A1A1A"/>
                </a:solidFill>
              </a:defRPr>
            </a:lvl1pPr>
            <a:lvl2pPr>
              <a:defRPr sz="1400">
                <a:solidFill>
                  <a:srgbClr val="1A1A1A"/>
                </a:solidFill>
              </a:defRPr>
            </a:lvl2pPr>
            <a:lvl3pPr>
              <a:defRPr sz="1400">
                <a:solidFill>
                  <a:srgbClr val="1A1A1A"/>
                </a:solidFill>
              </a:defRPr>
            </a:lvl3pPr>
            <a:lvl4pPr>
              <a:defRPr sz="1400">
                <a:solidFill>
                  <a:srgbClr val="1A1A1A"/>
                </a:solidFill>
              </a:defRPr>
            </a:lvl4pPr>
            <a:lvl5pPr>
              <a:defRPr sz="1400">
                <a:solidFill>
                  <a:srgbClr val="1A1A1A"/>
                </a:solidFill>
              </a:defRPr>
            </a:lvl5pPr>
            <a:lvl6pPr>
              <a:defRPr sz="1400">
                <a:solidFill>
                  <a:srgbClr val="1A1A1A"/>
                </a:solidFill>
              </a:defRPr>
            </a:lvl6pPr>
            <a:lvl7pPr>
              <a:defRPr sz="1400">
                <a:solidFill>
                  <a:srgbClr val="1A1A1A"/>
                </a:solidFill>
              </a:defRPr>
            </a:lvl7pPr>
            <a:lvl8pPr>
              <a:defRPr sz="1400">
                <a:solidFill>
                  <a:srgbClr val="1A1A1A"/>
                </a:solidFill>
              </a:defRPr>
            </a:lvl8pPr>
            <a:lvl9pPr>
              <a:defRPr sz="1400">
                <a:solidFill>
                  <a:srgbClr val="1A1A1A"/>
                </a:solidFill>
              </a:defRPr>
            </a:lvl9pPr>
          </a:lstStyle>
          <a:p xmlns:a="http://schemas.openxmlformats.org/drawingml/2006/main">
            <a:pPr>
              <a:defRPr sz="1400">
                <a:solidFill>
                  <a:srgbClr val="1A1A1A"/>
                </a:solidFill>
              </a:defRPr>
            </a:pPr>
            <a:r>
              <a:rPr sz="1400">
                <a:solidFill>
                  <a:srgbClr val="1A1A1A"/>
                </a:solidFill>
              </a:rPr>
              <a:t>Source: saved October 13 log. Each attack/task counts once, by majority of its 3 trials.</a:t>
            </a:r>
          </a:p>
          <a:p xmlns:a="http://schemas.openxmlformats.org/drawingml/2006/main">
            <a:pPr>
              <a:defRPr sz="1400">
                <a:solidFill>
                  <a:srgbClr val="1A1A1A"/>
                </a:solidFill>
              </a:defRPr>
            </a:pPr>
            <a:r>
              <a:rPr sz="1400">
                <a:solidFill>
                  <a:srgbClr val="1A1A1A"/>
                </a:solidFill>
              </a:rPr>
              <a:t>Offline policy scoring, not a new measurement of the live review flow.</a:t>
            </a:r>
          </a:p>
        </p:txBody>
      </p:sp>
    </p:spTree>
    <p:extLst>
      <p:ext uri="{BB962C8B-B14F-4D97-AF65-F5344CB8AC3E}">
        <p14:creationId xmlns:p14="http://schemas.microsoft.com/office/powerpoint/2010/main" val="100671144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12D9B1FB-8A6E-4F5A-BDCB-F39359B248B5}"/>
              </a:ext>
            </a:extLst>
          </p:cNvPr>
          <p:cNvSpPr>
            <a:spLocks xmlns:a="http://schemas.openxmlformats.org/drawingml/2006/main" noGrp="1"/>
          </p:cNvSpPr>
          <p:nvPr/>
        </p:nvSpPr>
        <p:spPr>
          <a:xfrm xmlns:a="http://schemas.openxmlformats.org/drawingml/2006/main">
            <a:off x="731520" y="411480"/>
            <a:ext cx="5486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100">
                <a:solidFill>
                  <a:srgbClr val="1F5C99"/>
                </a:solidFill>
                <a:latin typeface="Calibri"/>
                <a:ea typeface="Calibri"/>
                <a:cs typeface="Calibri"/>
              </a:rPr>
              <a:t>SECTION 3 OF 4</a:t>
            </a:r>
            <a:endParaRPr sz="1200"/>
          </a:p>
        </p:txBody>
      </p:sp>
      <p:sp>
        <p:nvSpPr>
          <p:cNvPr id="3" name="Text 1">
            <a:extLst xmlns:a="http://schemas.openxmlformats.org/drawingml/2006/main">
              <a:ext uri="{FF2B5EF4-FFF2-40B4-BE49-F238E27FC236}">
                <a16:creationId xmlns:a16="http://schemas.microsoft.com/office/drawing/2014/main" id="{36A6A6F9-0A42-40A4-8860-F5A1377E9CEB}"/>
              </a:ext>
            </a:extLst>
          </p:cNvPr>
          <p:cNvSpPr>
            <a:spLocks xmlns:a="http://schemas.openxmlformats.org/drawingml/2006/main" noGrp="1"/>
          </p:cNvSpPr>
          <p:nvPr/>
        </p:nvSpPr>
        <p:spPr>
          <a:xfrm xmlns:a="http://schemas.openxmlformats.org/drawingml/2006/main">
            <a:off x="8899855" y="411480"/>
            <a:ext cx="25603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i="1">
                <a:solidFill>
                  <a:srgbClr val="5A6672"/>
                </a:solidFill>
                <a:latin typeface="Calibri"/>
                <a:ea typeface="Calibri"/>
                <a:cs typeface="Calibri"/>
              </a:rPr>
              <a:t>Presented by: Kholoud Elkholy</a:t>
            </a:r>
            <a:endParaRPr sz="1100"/>
          </a:p>
        </p:txBody>
      </p:sp>
      <p:sp>
        <p:nvSpPr>
          <p:cNvPr id="4" name="Text 2">
            <a:extLst xmlns:a="http://schemas.openxmlformats.org/drawingml/2006/main">
              <a:ext uri="{FF2B5EF4-FFF2-40B4-BE49-F238E27FC236}">
                <a16:creationId xmlns:a16="http://schemas.microsoft.com/office/drawing/2014/main" id="{A26D5050-DB48-4A5F-B684-0D96F4741E1E}"/>
              </a:ext>
            </a:extLst>
          </p:cNvPr>
          <p:cNvSpPr>
            <a:spLocks xmlns:a="http://schemas.openxmlformats.org/drawingml/2006/main" noGrp="1"/>
          </p:cNvSpPr>
          <p:nvPr/>
        </p:nvSpPr>
        <p:spPr>
          <a:xfrm xmlns:a="http://schemas.openxmlformats.org/drawingml/2006/main">
            <a:off x="731520" y="713232"/>
            <a:ext cx="10728655"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4375E"/>
                </a:solidFill>
                <a:latin typeface="Calibri"/>
                <a:ea typeface="Calibri"/>
                <a:cs typeface="Calibri"/>
              </a:rPr>
              <a:t>Expected Outcomes</a:t>
            </a:r>
            <a:endParaRPr sz="2800"/>
          </a:p>
        </p:txBody>
      </p:sp>
      <p:sp>
        <p:nvSpPr>
          <p:cNvPr id="5" name="Shape 3">
            <a:extLst xmlns:a="http://schemas.openxmlformats.org/drawingml/2006/main">
              <a:ext uri="{FF2B5EF4-FFF2-40B4-BE49-F238E27FC236}">
                <a16:creationId xmlns:a16="http://schemas.microsoft.com/office/drawing/2014/main" id="{3EE1AC3C-E733-4D01-9C82-F46F6A972BA4}"/>
              </a:ext>
            </a:extLst>
          </p:cNvPr>
          <p:cNvSpPr>
            <a:spLocks xmlns:a="http://schemas.openxmlformats.org/drawingml/2006/main" noGrp="1"/>
          </p:cNvSpPr>
          <p:nvPr/>
        </p:nvSpPr>
        <p:spPr>
          <a:xfrm xmlns:a="http://schemas.openxmlformats.org/drawingml/2006/main">
            <a:off x="731520" y="1554480"/>
            <a:ext cx="10728655" cy="2103120"/>
          </a:xfrm>
          <a:prstGeom xmlns:a="http://schemas.openxmlformats.org/drawingml/2006/main" prst="rect">
            <a:avLst/>
          </a:prstGeom>
          <a:solidFill xmlns:a="http://schemas.openxmlformats.org/drawingml/2006/main">
            <a:srgbClr val="F2F5F9"/>
          </a:solidFill>
        </p:spPr>
      </p:sp>
      <p:sp>
        <p:nvSpPr>
          <p:cNvPr id="6" name="Text 4">
            <a:extLst xmlns:a="http://schemas.openxmlformats.org/drawingml/2006/main">
              <a:ext uri="{FF2B5EF4-FFF2-40B4-BE49-F238E27FC236}">
                <a16:creationId xmlns:a16="http://schemas.microsoft.com/office/drawing/2014/main" id="{93DDBE1D-DE9D-4BC0-998F-D81E8480ED1C}"/>
              </a:ext>
            </a:extLst>
          </p:cNvPr>
          <p:cNvSpPr>
            <a:spLocks xmlns:a="http://schemas.openxmlformats.org/drawingml/2006/main" noGrp="1"/>
          </p:cNvSpPr>
          <p:nvPr/>
        </p:nvSpPr>
        <p:spPr>
          <a:xfrm xmlns:a="http://schemas.openxmlformats.org/drawingml/2006/main">
            <a:off x="960120" y="1691640"/>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5A6672"/>
                </a:solidFill>
                <a:latin typeface="Calibri"/>
                <a:ea typeface="Calibri"/>
                <a:cs typeface="Calibri"/>
              </a:rPr>
              <a:t>TARGETS AND LIMITATIONS</a:t>
            </a:r>
            <a:endParaRPr sz="1100"/>
          </a:p>
        </p:txBody>
      </p:sp>
      <p:sp>
        <p:nvSpPr>
          <p:cNvPr id="9" name="Text 7">
            <a:extLst xmlns:a="http://schemas.openxmlformats.org/drawingml/2006/main">
              <a:ext uri="{FF2B5EF4-FFF2-40B4-BE49-F238E27FC236}">
                <a16:creationId xmlns:a16="http://schemas.microsoft.com/office/drawing/2014/main" id="{D8BE7AE1-0E29-4850-859C-7B362505816E}"/>
              </a:ext>
            </a:extLst>
          </p:cNvPr>
          <p:cNvSpPr>
            <a:spLocks xmlns:a="http://schemas.openxmlformats.org/drawingml/2006/main" noGrp="1"/>
          </p:cNvSpPr>
          <p:nvPr/>
        </p:nvSpPr>
        <p:spPr>
          <a:xfrm xmlns:a="http://schemas.openxmlformats.org/drawingml/2006/main">
            <a:off x="457200" y="644652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5A6672"/>
                </a:solidFill>
                <a:latin typeface="Calibri"/>
                <a:ea typeface="Calibri"/>
                <a:cs typeface="Calibri"/>
              </a:rPr>
              <a:t>COE444 Computer Security  |  Progress Presentation Template</a:t>
            </a:r>
            <a:endParaRPr sz="1000"/>
          </a:p>
        </p:txBody>
      </p:sp>
      <p:sp>
        <p:nvSpPr>
          <p:cNvPr id="10" name="Text 8">
            <a:extLst xmlns:a="http://schemas.openxmlformats.org/drawingml/2006/main">
              <a:ext uri="{FF2B5EF4-FFF2-40B4-BE49-F238E27FC236}">
                <a16:creationId xmlns:a16="http://schemas.microsoft.com/office/drawing/2014/main" id="{EE0FC7D4-E555-4648-9800-793E6FF4D3C1}"/>
              </a:ext>
            </a:extLst>
          </p:cNvPr>
          <p:cNvSpPr>
            <a:spLocks xmlns:a="http://schemas.openxmlformats.org/drawingml/2006/main" noGrp="1"/>
          </p:cNvSpPr>
          <p:nvPr/>
        </p:nvSpPr>
        <p:spPr>
          <a:xfrm xmlns:a="http://schemas.openxmlformats.org/drawingml/2006/main">
            <a:off x="11277295" y="644652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5A6672"/>
                </a:solidFill>
                <a:latin typeface="Calibri"/>
                <a:ea typeface="Calibri"/>
                <a:cs typeface="Calibri"/>
              </a:rPr>
              <a:t>4</a:t>
            </a:r>
            <a:endParaRPr sz="1000"/>
          </a:p>
        </p:txBody>
      </p:sp>
      <p:sp>
        <p:nvSpPr>
          <p:cNvPr id="11" name="">
            <a:extLst xmlns:a="http://schemas.openxmlformats.org/drawingml/2006/main">
              <a:ext uri="{FF2B5EF4-FFF2-40B4-BE49-F238E27FC236}">
                <a16:creationId xmlns:a16="http://schemas.microsoft.com/office/drawing/2014/main" id="{88B6097C-8534-49C3-B270-FA2262A7EDCD}"/>
              </a:ext>
            </a:extLst>
          </p:cNvPr>
          <p:cNvSpPr>
            <a:spLocks xmlns:a="http://schemas.openxmlformats.org/drawingml/2006/main" noGrp="1"/>
          </p:cNvSpPr>
          <p:nvPr/>
        </p:nvSpPr>
        <p:spPr>
          <a:xfrm xmlns:a="http://schemas.openxmlformats.org/drawingml/2006/main">
            <a:off x="960120" y="2009775"/>
            <a:ext cx="10271474"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a:solidFill>
                  <a:srgbClr val="1A1A1A"/>
                </a:solidFill>
              </a:defRPr>
            </a:defPPr>
            <a:lvl1pPr>
              <a:defRPr sz="1575">
                <a:solidFill>
                  <a:srgbClr val="1A1A1A"/>
                </a:solidFill>
              </a:defRPr>
            </a:lvl1pPr>
            <a:lvl2pPr>
              <a:defRPr sz="1575">
                <a:solidFill>
                  <a:srgbClr val="1A1A1A"/>
                </a:solidFill>
              </a:defRPr>
            </a:lvl2pPr>
            <a:lvl3pPr>
              <a:defRPr sz="1575">
                <a:solidFill>
                  <a:srgbClr val="1A1A1A"/>
                </a:solidFill>
              </a:defRPr>
            </a:lvl3pPr>
            <a:lvl4pPr>
              <a:defRPr sz="1575">
                <a:solidFill>
                  <a:srgbClr val="1A1A1A"/>
                </a:solidFill>
              </a:defRPr>
            </a:lvl4pPr>
            <a:lvl5pPr>
              <a:defRPr sz="1575">
                <a:solidFill>
                  <a:srgbClr val="1A1A1A"/>
                </a:solidFill>
              </a:defRPr>
            </a:lvl5pPr>
            <a:lvl6pPr>
              <a:defRPr sz="1575">
                <a:solidFill>
                  <a:srgbClr val="1A1A1A"/>
                </a:solidFill>
              </a:defRPr>
            </a:lvl6pPr>
            <a:lvl7pPr>
              <a:defRPr sz="1575">
                <a:solidFill>
                  <a:srgbClr val="1A1A1A"/>
                </a:solidFill>
              </a:defRPr>
            </a:lvl7pPr>
            <a:lvl8pPr>
              <a:defRPr sz="1575">
                <a:solidFill>
                  <a:srgbClr val="1A1A1A"/>
                </a:solidFill>
              </a:defRPr>
            </a:lvl8pPr>
            <a:lvl9pPr>
              <a:defRPr sz="1575">
                <a:solidFill>
                  <a:srgbClr val="1A1A1A"/>
                </a:solidFill>
              </a:defRPr>
            </a:lvl9pPr>
          </a:lstStyle>
          <a:p xmlns:a="http://schemas.openxmlformats.org/drawingml/2006/main">
            <a:pPr>
              <a:defRPr sz="1575">
                <a:solidFill>
                  <a:srgbClr val="1A1A1A"/>
                </a:solidFill>
              </a:defRPr>
            </a:pPr>
            <a:r>
              <a:rPr sz="1575">
                <a:solidFill>
                  <a:srgbClr val="1A1A1A"/>
                </a:solidFill>
              </a:rPr>
              <a:t>External agent check: 50 of 200 attacks. A: 9/48 successes, C: 0/48, with 2 errors.</a:t>
            </a:r>
          </a:p>
          <a:p xmlns:a="http://schemas.openxmlformats.org/drawingml/2006/main">
            <a:pPr>
              <a:defRPr sz="1575">
                <a:solidFill>
                  <a:srgbClr val="1A1A1A"/>
                </a:solidFill>
              </a:defRPr>
            </a:pPr>
            <a:r>
              <a:rPr sz="1575">
                <a:solidFill>
                  <a:srgbClr val="1A1A1A"/>
                </a:solidFill>
              </a:rPr>
              <a:t>Detector check: 50 attack excerpts + 203 clean emails. Misses: 3/50, false alarms: 0/203.</a:t>
            </a:r>
          </a:p>
        </p:txBody>
      </p:sp>
      <p:sp>
        <p:nvSpPr>
          <p:cNvPr id="12" name="">
            <a:extLst xmlns:a="http://schemas.openxmlformats.org/drawingml/2006/main">
              <a:ext uri="{FF2B5EF4-FFF2-40B4-BE49-F238E27FC236}">
                <a16:creationId xmlns:a16="http://schemas.microsoft.com/office/drawing/2014/main" id="{3B6C9783-3F6A-4B8D-A267-6F790148182E}"/>
              </a:ext>
            </a:extLst>
          </p:cNvPr>
          <p:cNvSpPr>
            <a:spLocks xmlns:a="http://schemas.openxmlformats.org/drawingml/2006/main" noGrp="1"/>
          </p:cNvSpPr>
          <p:nvPr/>
        </p:nvSpPr>
        <p:spPr>
          <a:xfrm xmlns:a="http://schemas.openxmlformats.org/drawingml/2006/main">
            <a:off x="960120" y="2771775"/>
            <a:ext cx="10271474"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a:solidFill>
                  <a:srgbClr val="1A1A1A"/>
                </a:solidFill>
              </a:defRPr>
            </a:defPPr>
            <a:lvl1pPr>
              <a:defRPr sz="1575">
                <a:solidFill>
                  <a:srgbClr val="1A1A1A"/>
                </a:solidFill>
              </a:defRPr>
            </a:lvl1pPr>
            <a:lvl2pPr>
              <a:defRPr sz="1575">
                <a:solidFill>
                  <a:srgbClr val="1A1A1A"/>
                </a:solidFill>
              </a:defRPr>
            </a:lvl2pPr>
            <a:lvl3pPr>
              <a:defRPr sz="1575">
                <a:solidFill>
                  <a:srgbClr val="1A1A1A"/>
                </a:solidFill>
              </a:defRPr>
            </a:lvl3pPr>
            <a:lvl4pPr>
              <a:defRPr sz="1575">
                <a:solidFill>
                  <a:srgbClr val="1A1A1A"/>
                </a:solidFill>
              </a:defRPr>
            </a:lvl4pPr>
            <a:lvl5pPr>
              <a:defRPr sz="1575">
                <a:solidFill>
                  <a:srgbClr val="1A1A1A"/>
                </a:solidFill>
              </a:defRPr>
            </a:lvl5pPr>
            <a:lvl6pPr>
              <a:defRPr sz="1575">
                <a:solidFill>
                  <a:srgbClr val="1A1A1A"/>
                </a:solidFill>
              </a:defRPr>
            </a:lvl6pPr>
            <a:lvl7pPr>
              <a:defRPr sz="1575">
                <a:solidFill>
                  <a:srgbClr val="1A1A1A"/>
                </a:solidFill>
              </a:defRPr>
            </a:lvl7pPr>
            <a:lvl8pPr>
              <a:defRPr sz="1575">
                <a:solidFill>
                  <a:srgbClr val="1A1A1A"/>
                </a:solidFill>
              </a:defRPr>
            </a:lvl8pPr>
            <a:lvl9pPr>
              <a:defRPr sz="1575">
                <a:solidFill>
                  <a:srgbClr val="1A1A1A"/>
                </a:solidFill>
              </a:defRPr>
            </a:lvl9pPr>
          </a:lstStyle>
          <a:p xmlns:a="http://schemas.openxmlformats.org/drawingml/2006/main">
            <a:pPr>
              <a:defRPr sz="1575">
                <a:solidFill>
                  <a:srgbClr val="1A1A1A"/>
                </a:solidFill>
              </a:defRPr>
            </a:pPr>
            <a:r>
              <a:rPr sz="1575">
                <a:solidFill>
                  <a:srgbClr val="1A1A1A"/>
                </a:solidFill>
              </a:rPr>
              <a:t>Targets: combined attack success &lt;5%, detector misses &lt;20%, false alarms &lt;15%.</a:t>
            </a:r>
          </a:p>
          <a:p xmlns:a="http://schemas.openxmlformats.org/drawingml/2006/main">
            <a:pPr>
              <a:defRPr sz="1575">
                <a:solidFill>
                  <a:srgbClr val="1A1A1A"/>
                </a:solidFill>
              </a:defRPr>
            </a:pPr>
            <a:r>
              <a:rPr sz="1575">
                <a:solidFill>
                  <a:srgbClr val="1A1A1A"/>
                </a:solidFill>
              </a:rPr>
              <a:t>Combined historical dev result: 10%. New live review still needs evaluation.</a:t>
            </a:r>
          </a:p>
        </p:txBody>
      </p:sp>
      <p:graphicFrame>
        <p:nvGraphicFramePr>
          <p:cNvPr id="13" name="">
            <a:extLst xmlns:a="http://schemas.openxmlformats.org/drawingml/2006/main">
              <a:ext uri="{FF2B5EF4-FFF2-40B4-BE49-F238E27FC236}">
                <a16:creationId xmlns:a16="http://schemas.microsoft.com/office/drawing/2014/main" id="{B309D3EE-81DD-44EE-A23F-A4E05B1BB4F5}"/>
              </a:ext>
            </a:extLst>
          </p:cNvPr>
          <p:cNvGraphicFramePr/>
          <p:nvPr/>
        </p:nvGraphicFramePr>
        <p:xfrm>
          <a:off xmlns:a="http://schemas.openxmlformats.org/drawingml/2006/main" x="731520" y="3886200"/>
          <a:ext xmlns:a="http://schemas.openxmlformats.org/drawingml/2006/main" cx="10728674" cy="2133600"/>
        </p:xfrm>
        <a:graphic xmlns:a="http://schemas.openxmlformats.org/drawingml/2006/main">
          <a:graphicData uri="http://schemas.openxmlformats.org/drawingml/2006/table">
            <a:tbl>
              <a:tblPr/>
              <a:tblGrid>
                <a:gridCol w="3619500"/>
                <a:gridCol w="7109174"/>
              </a:tblGrid>
              <a:tr h="426720">
                <a:tc>
                  <a:txBody>
                    <a:bodyPr/>
                    <a:lstStyle/>
                    <a:p>
                      <a:r>
                        <a:rPr sz="1313" b="1">
                          <a:solidFill>
                            <a:srgbClr val="FFFFFF"/>
                          </a:solidFill>
                        </a:rPr>
                        <a:t>Final demonstration</a:t>
                      </a:r>
                    </a:p>
                  </a:txBody>
                  <a:tcPr marL="91440" marR="91440" marT="45720" marB="45720">
                    <a:lnL w="9525">
                      <a:solidFill>
                        <a:srgbClr val="C9D6E3"/>
                      </a:solidFill>
                      <a:prstDash val="solid"/>
                    </a:lnL>
                    <a:lnR w="9525">
                      <a:solidFill>
                        <a:srgbClr val="C9D6E3"/>
                      </a:solidFill>
                      <a:prstDash val="solid"/>
                    </a:lnR>
                    <a:lnT w="9525">
                      <a:solidFill>
                        <a:srgbClr val="C9D6E3"/>
                      </a:solidFill>
                      <a:prstDash val="solid"/>
                    </a:lnT>
                    <a:lnB w="9525">
                      <a:solidFill>
                        <a:srgbClr val="C9D6E3"/>
                      </a:solidFill>
                      <a:prstDash val="solid"/>
                    </a:lnB>
                    <a:solidFill>
                      <a:srgbClr val="14375E"/>
                    </a:solidFill>
                  </a:tcPr>
                </a:tc>
                <a:tc>
                  <a:txBody>
                    <a:bodyPr/>
                    <a:lstStyle/>
                    <a:p>
                      <a:r>
                        <a:rPr sz="1313" b="1">
                          <a:solidFill>
                            <a:srgbClr val="FFFFFF"/>
                          </a:solidFill>
                        </a:rPr>
                        <a:t>Evidence still needed</a:t>
                      </a:r>
                    </a:p>
                  </a:txBody>
                  <a:tcPr marL="91440" marR="91440" marT="45720" marB="45720">
                    <a:lnR w="9525">
                      <a:solidFill>
                        <a:srgbClr val="C9D6E3"/>
                      </a:solidFill>
                      <a:prstDash val="solid"/>
                    </a:lnR>
                    <a:lnT w="9525">
                      <a:solidFill>
                        <a:srgbClr val="C9D6E3"/>
                      </a:solidFill>
                      <a:prstDash val="solid"/>
                    </a:lnT>
                    <a:lnB w="9525">
                      <a:solidFill>
                        <a:srgbClr val="C9D6E3"/>
                      </a:solidFill>
                      <a:prstDash val="solid"/>
                    </a:lnB>
                    <a:solidFill>
                      <a:srgbClr val="14375E"/>
                    </a:solidFill>
                  </a:tcPr>
                </a:tc>
              </a:tr>
              <a:tr h="426720">
                <a:tc>
                  <a:txBody>
                    <a:bodyPr/>
                    <a:lstStyle/>
                    <a:p>
                      <a:r>
                        <a:rPr sz="1313" b="0">
                          <a:solidFill>
                            <a:srgbClr val="1A1A1A"/>
                          </a:solidFill>
                        </a:rPr>
                        <a:t>Poisoned document with an injected CC</a:t>
                      </a:r>
                    </a:p>
                  </a:txBody>
                  <a:tcPr marL="91440" marR="91440" marT="45720" marB="45720">
                    <a:lnL w="9525">
                      <a:solidFill>
                        <a:srgbClr val="C9D6E3"/>
                      </a:solidFill>
                      <a:prstDash val="solid"/>
                    </a:lnL>
                    <a:lnR w="9525">
                      <a:solidFill>
                        <a:srgbClr val="C9D6E3"/>
                      </a:solidFill>
                      <a:prstDash val="solid"/>
                    </a:lnR>
                    <a:lnB w="9525">
                      <a:solidFill>
                        <a:srgbClr val="C9D6E3"/>
                      </a:solidFill>
                      <a:prstDash val="solid"/>
                    </a:lnB>
                    <a:solidFill>
                      <a:srgbClr val="FFFFFF"/>
                    </a:solidFill>
                  </a:tcPr>
                </a:tc>
                <a:tc>
                  <a:txBody>
                    <a:bodyPr/>
                    <a:lstStyle/>
                    <a:p>
                      <a:r>
                        <a:rPr sz="1313" b="0">
                          <a:solidFill>
                            <a:srgbClr val="1A1A1A"/>
                          </a:solidFill>
                        </a:rPr>
                        <a:t>Baseline proposes attacker CC. Gate strips it and keeps intended mail.</a:t>
                      </a:r>
                    </a:p>
                  </a:txBody>
                  <a:tcPr marL="91440" marR="91440" marT="45720" marB="45720">
                    <a:lnR w="9525">
                      <a:solidFill>
                        <a:srgbClr val="C9D6E3"/>
                      </a:solidFill>
                      <a:prstDash val="solid"/>
                    </a:lnR>
                    <a:lnB w="9525">
                      <a:solidFill>
                        <a:srgbClr val="C9D6E3"/>
                      </a:solidFill>
                      <a:prstDash val="solid"/>
                    </a:lnB>
                    <a:solidFill>
                      <a:srgbClr val="FFFFFF"/>
                    </a:solidFill>
                  </a:tcPr>
                </a:tc>
              </a:tr>
              <a:tr h="426720">
                <a:tc>
                  <a:txBody>
                    <a:bodyPr/>
                    <a:lstStyle/>
                    <a:p>
                      <a:r>
                        <a:rPr sz="1313" b="0">
                          <a:solidFill>
                            <a:srgbClr val="1A1A1A"/>
                          </a:solidFill>
                        </a:rPr>
                        <a:t>New live safeguard</a:t>
                      </a:r>
                    </a:p>
                  </a:txBody>
                  <a:tcPr marL="91440" marR="91440" marT="45720" marB="45720">
                    <a:lnL w="9525">
                      <a:solidFill>
                        <a:srgbClr val="C9D6E3"/>
                      </a:solidFill>
                      <a:prstDash val="solid"/>
                    </a:lnL>
                    <a:lnR w="9525">
                      <a:solidFill>
                        <a:srgbClr val="C9D6E3"/>
                      </a:solidFill>
                      <a:prstDash val="solid"/>
                    </a:lnR>
                    <a:lnB w="9525">
                      <a:solidFill>
                        <a:srgbClr val="C9D6E3"/>
                      </a:solidFill>
                      <a:prstDash val="solid"/>
                    </a:lnB>
                    <a:solidFill>
                      <a:srgbClr val="FFFFFF"/>
                    </a:solidFill>
                  </a:tcPr>
                </a:tc>
                <a:tc>
                  <a:txBody>
                    <a:bodyPr/>
                    <a:lstStyle/>
                    <a:p>
                      <a:r>
                        <a:rPr sz="1313" b="0">
                          <a:solidFill>
                            <a:srgbClr val="1A1A1A"/>
                          </a:solidFill>
                        </a:rPr>
                        <a:t>Protected sends wait for review of exact recipients and message.</a:t>
                      </a:r>
                    </a:p>
                  </a:txBody>
                  <a:tcPr marL="91440" marR="91440" marT="45720" marB="45720">
                    <a:lnR w="9525">
                      <a:solidFill>
                        <a:srgbClr val="C9D6E3"/>
                      </a:solidFill>
                      <a:prstDash val="solid"/>
                    </a:lnR>
                    <a:lnB w="9525">
                      <a:solidFill>
                        <a:srgbClr val="C9D6E3"/>
                      </a:solidFill>
                      <a:prstDash val="solid"/>
                    </a:lnB>
                    <a:solidFill>
                      <a:srgbClr val="FFFFFF"/>
                    </a:solidFill>
                  </a:tcPr>
                </a:tc>
              </a:tr>
              <a:tr h="426720">
                <a:tc>
                  <a:txBody>
                    <a:bodyPr/>
                    <a:lstStyle/>
                    <a:p>
                      <a:r>
                        <a:rPr sz="1313" b="0">
                          <a:solidFill>
                            <a:srgbClr val="1A1A1A"/>
                          </a:solidFill>
                        </a:rPr>
                        <a:t>Final evaluation</a:t>
                      </a:r>
                    </a:p>
                  </a:txBody>
                  <a:tcPr marL="91440" marR="91440" marT="45720" marB="45720">
                    <a:lnL w="9525">
                      <a:solidFill>
                        <a:srgbClr val="C9D6E3"/>
                      </a:solidFill>
                      <a:prstDash val="solid"/>
                    </a:lnL>
                    <a:lnR w="9525">
                      <a:solidFill>
                        <a:srgbClr val="C9D6E3"/>
                      </a:solidFill>
                      <a:prstDash val="solid"/>
                    </a:lnR>
                    <a:lnB w="9525">
                      <a:solidFill>
                        <a:srgbClr val="C9D6E3"/>
                      </a:solidFill>
                      <a:prstDash val="solid"/>
                    </a:lnB>
                    <a:solidFill>
                      <a:srgbClr val="FFFFFF"/>
                    </a:solidFill>
                  </a:tcPr>
                </a:tc>
                <a:tc>
                  <a:txBody>
                    <a:bodyPr/>
                    <a:lstStyle/>
                    <a:p>
                      <a:r>
                        <a:rPr sz="1313" b="0">
                          <a:solidFill>
                            <a:srgbClr val="1A1A1A"/>
                          </a:solidFill>
                        </a:rPr>
                        <a:t>Freeze the protocol, evaluate held-out attacks and report task utility.</a:t>
                      </a:r>
                    </a:p>
                  </a:txBody>
                  <a:tcPr marL="91440" marR="91440" marT="45720" marB="45720">
                    <a:lnR w="9525">
                      <a:solidFill>
                        <a:srgbClr val="C9D6E3"/>
                      </a:solidFill>
                      <a:prstDash val="solid"/>
                    </a:lnR>
                    <a:lnB w="9525">
                      <a:solidFill>
                        <a:srgbClr val="C9D6E3"/>
                      </a:solidFill>
                      <a:prstDash val="solid"/>
                    </a:lnB>
                    <a:solidFill>
                      <a:srgbClr val="FFFFFF"/>
                    </a:solidFill>
                  </a:tcPr>
                </a:tc>
              </a:tr>
              <a:tr h="426720">
                <a:tc>
                  <a:txBody>
                    <a:bodyPr/>
                    <a:lstStyle/>
                    <a:p>
                      <a:r>
                        <a:rPr sz="1313" b="0">
                          <a:solidFill>
                            <a:srgbClr val="1A1A1A"/>
                          </a:solidFill>
                        </a:rPr>
                        <a:t>Honest scope</a:t>
                      </a:r>
                    </a:p>
                  </a:txBody>
                  <a:tcPr marL="91440" marR="91440" marT="45720" marB="45720">
                    <a:lnL w="9525">
                      <a:solidFill>
                        <a:srgbClr val="C9D6E3"/>
                      </a:solidFill>
                      <a:prstDash val="solid"/>
                    </a:lnL>
                    <a:lnR w="9525">
                      <a:solidFill>
                        <a:srgbClr val="C9D6E3"/>
                      </a:solidFill>
                      <a:prstDash val="solid"/>
                    </a:lnR>
                    <a:lnB w="9525">
                      <a:solidFill>
                        <a:srgbClr val="C9D6E3"/>
                      </a:solidFill>
                      <a:prstDash val="solid"/>
                    </a:lnB>
                    <a:solidFill>
                      <a:srgbClr val="FFFFFF"/>
                    </a:solidFill>
                  </a:tcPr>
                </a:tc>
                <a:tc>
                  <a:txBody>
                    <a:bodyPr/>
                    <a:lstStyle/>
                    <a:p>
                      <a:r>
                        <a:rPr sz="1313" b="0">
                          <a:solidFill>
                            <a:srgbClr val="1A1A1A"/>
                          </a:solidFill>
                        </a:rPr>
                        <a:t>Simulated email, no web tool. Live and offline scoring may differ.</a:t>
                      </a:r>
                    </a:p>
                  </a:txBody>
                  <a:tcPr marL="91440" marR="91440" marT="45720" marB="45720">
                    <a:lnR w="9525">
                      <a:solidFill>
                        <a:srgbClr val="C9D6E3"/>
                      </a:solidFill>
                      <a:prstDash val="solid"/>
                    </a:lnR>
                    <a:lnB w="9525">
                      <a:solidFill>
                        <a:srgbClr val="C9D6E3"/>
                      </a:solidFill>
                      <a:prstDash val="solid"/>
                    </a:lnB>
                    <a:solidFill>
                      <a:srgbClr val="FFFFFF"/>
                    </a:solidFill>
                  </a:tcPr>
                </a:tc>
              </a:tr>
            </a:tbl>
          </a:graphicData>
        </a:graphic>
      </p:graphicFrame>
    </p:spTree>
    <p:extLst>
      <p:ext uri="{BB962C8B-B14F-4D97-AF65-F5344CB8AC3E}">
        <p14:creationId xmlns:p14="http://schemas.microsoft.com/office/powerpoint/2010/main" val="203283120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D638B3AB-92E5-4146-859F-1E72645B121C}"/>
              </a:ext>
            </a:extLst>
          </p:cNvPr>
          <p:cNvSpPr>
            <a:spLocks xmlns:a="http://schemas.openxmlformats.org/drawingml/2006/main" noGrp="1"/>
          </p:cNvSpPr>
          <p:nvPr/>
        </p:nvSpPr>
        <p:spPr>
          <a:xfrm xmlns:a="http://schemas.openxmlformats.org/drawingml/2006/main">
            <a:off x="731520" y="411480"/>
            <a:ext cx="54864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200" b="1" spc="100">
                <a:solidFill>
                  <a:srgbClr val="1F5C99"/>
                </a:solidFill>
                <a:latin typeface="Calibri"/>
                <a:ea typeface="Calibri"/>
                <a:cs typeface="Calibri"/>
              </a:rPr>
              <a:t>SECTION 4 OF 4</a:t>
            </a:r>
            <a:endParaRPr sz="1200"/>
          </a:p>
        </p:txBody>
      </p:sp>
      <p:sp>
        <p:nvSpPr>
          <p:cNvPr id="3" name="Text 1">
            <a:extLst xmlns:a="http://schemas.openxmlformats.org/drawingml/2006/main">
              <a:ext uri="{FF2B5EF4-FFF2-40B4-BE49-F238E27FC236}">
                <a16:creationId xmlns:a16="http://schemas.microsoft.com/office/drawing/2014/main" id="{DF339EB1-7CA2-4EA4-BDD5-B9FBCAF0AF3A}"/>
              </a:ext>
            </a:extLst>
          </p:cNvPr>
          <p:cNvSpPr>
            <a:spLocks xmlns:a="http://schemas.openxmlformats.org/drawingml/2006/main" noGrp="1"/>
          </p:cNvSpPr>
          <p:nvPr/>
        </p:nvSpPr>
        <p:spPr>
          <a:xfrm xmlns:a="http://schemas.openxmlformats.org/drawingml/2006/main">
            <a:off x="8899855" y="411480"/>
            <a:ext cx="256032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100" i="1">
                <a:solidFill>
                  <a:srgbClr val="5A6672"/>
                </a:solidFill>
                <a:latin typeface="Calibri"/>
                <a:ea typeface="Calibri"/>
                <a:cs typeface="Calibri"/>
              </a:rPr>
              <a:t>Presented by: Belal Ghanimeh</a:t>
            </a:r>
            <a:endParaRPr sz="1100"/>
          </a:p>
        </p:txBody>
      </p:sp>
      <p:sp>
        <p:nvSpPr>
          <p:cNvPr id="4" name="Text 2">
            <a:extLst xmlns:a="http://schemas.openxmlformats.org/drawingml/2006/main">
              <a:ext uri="{FF2B5EF4-FFF2-40B4-BE49-F238E27FC236}">
                <a16:creationId xmlns:a16="http://schemas.microsoft.com/office/drawing/2014/main" id="{B61CD2D8-8DD9-441E-9895-976A522C7411}"/>
              </a:ext>
            </a:extLst>
          </p:cNvPr>
          <p:cNvSpPr>
            <a:spLocks xmlns:a="http://schemas.openxmlformats.org/drawingml/2006/main" noGrp="1"/>
          </p:cNvSpPr>
          <p:nvPr/>
        </p:nvSpPr>
        <p:spPr>
          <a:xfrm xmlns:a="http://schemas.openxmlformats.org/drawingml/2006/main">
            <a:off x="731520" y="713232"/>
            <a:ext cx="10728655" cy="64008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800" b="1">
                <a:solidFill>
                  <a:srgbClr val="14375E"/>
                </a:solidFill>
                <a:latin typeface="Calibri"/>
                <a:ea typeface="Calibri"/>
                <a:cs typeface="Calibri"/>
              </a:rPr>
              <a:t>Timeline with Milestones</a:t>
            </a:r>
            <a:endParaRPr sz="2800"/>
          </a:p>
        </p:txBody>
      </p:sp>
      <p:sp>
        <p:nvSpPr>
          <p:cNvPr id="5" name="Shape 3">
            <a:extLst xmlns:a="http://schemas.openxmlformats.org/drawingml/2006/main">
              <a:ext uri="{FF2B5EF4-FFF2-40B4-BE49-F238E27FC236}">
                <a16:creationId xmlns:a16="http://schemas.microsoft.com/office/drawing/2014/main" id="{FC19EAD0-F45B-452C-A523-3AB7911E762A}"/>
              </a:ext>
            </a:extLst>
          </p:cNvPr>
          <p:cNvSpPr>
            <a:spLocks xmlns:a="http://schemas.openxmlformats.org/drawingml/2006/main" noGrp="1"/>
          </p:cNvSpPr>
          <p:nvPr/>
        </p:nvSpPr>
        <p:spPr>
          <a:xfrm xmlns:a="http://schemas.openxmlformats.org/drawingml/2006/main">
            <a:off x="731520" y="1554480"/>
            <a:ext cx="10728655" cy="2103120"/>
          </a:xfrm>
          <a:prstGeom xmlns:a="http://schemas.openxmlformats.org/drawingml/2006/main" prst="rect">
            <a:avLst/>
          </a:prstGeom>
          <a:solidFill xmlns:a="http://schemas.openxmlformats.org/drawingml/2006/main">
            <a:srgbClr val="F2F5F9"/>
          </a:solidFill>
        </p:spPr>
      </p:sp>
      <p:sp>
        <p:nvSpPr>
          <p:cNvPr id="6" name="Text 4">
            <a:extLst xmlns:a="http://schemas.openxmlformats.org/drawingml/2006/main">
              <a:ext uri="{FF2B5EF4-FFF2-40B4-BE49-F238E27FC236}">
                <a16:creationId xmlns:a16="http://schemas.microsoft.com/office/drawing/2014/main" id="{6B14D786-8651-4768-801C-2AAE0F6F75DC}"/>
              </a:ext>
            </a:extLst>
          </p:cNvPr>
          <p:cNvSpPr>
            <a:spLocks xmlns:a="http://schemas.openxmlformats.org/drawingml/2006/main" noGrp="1"/>
          </p:cNvSpPr>
          <p:nvPr/>
        </p:nvSpPr>
        <p:spPr>
          <a:xfrm xmlns:a="http://schemas.openxmlformats.org/drawingml/2006/main">
            <a:off x="960120" y="1691640"/>
            <a:ext cx="54864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100" b="1">
                <a:solidFill>
                  <a:srgbClr val="5A6672"/>
                </a:solidFill>
                <a:latin typeface="Calibri"/>
                <a:ea typeface="Calibri"/>
                <a:cs typeface="Calibri"/>
              </a:rPr>
              <a:t>REVISED PLAN</a:t>
            </a:r>
            <a:endParaRPr sz="1100"/>
          </a:p>
        </p:txBody>
      </p:sp>
      <p:graphicFrame>
        <p:nvGraphicFramePr>
          <p:cNvPr id="11" name="Table 0">
            <a:extLst xmlns:a="http://schemas.openxmlformats.org/drawingml/2006/main">
              <a:ext uri="{FF2B5EF4-FFF2-40B4-BE49-F238E27FC236}">
                <a16:creationId xmlns:a16="http://schemas.microsoft.com/office/drawing/2014/main" id="{20EDBE38-2C76-407A-B5D3-383F07818D2F}"/>
              </a:ext>
            </a:extLst>
          </p:cNvPr>
          <p:cNvGraphicFramePr/>
          <p:nvPr/>
        </p:nvGraphicFramePr>
        <p:xfrm>
          <a:off xmlns:a="http://schemas.openxmlformats.org/drawingml/2006/main" x="731520" y="3676650"/>
          <a:ext xmlns:a="http://schemas.openxmlformats.org/drawingml/2006/main" cx="10728674" cy="2447925"/>
        </p:xfrm>
        <a:graphic xmlns:a="http://schemas.openxmlformats.org/drawingml/2006/main">
          <a:graphicData uri="http://schemas.openxmlformats.org/drawingml/2006/table">
            <a:tbl>
              <a:tblPr/>
              <a:tblGrid>
                <a:gridCol w="2682164"/>
                <a:gridCol w="2682164"/>
                <a:gridCol w="2682164"/>
                <a:gridCol w="2682164"/>
              </a:tblGrid>
              <a:tr h="304800">
                <a:tc>
                  <a:txBody>
                    <a:bodyPr/>
                    <a:lstStyle/>
                    <a:p>
                      <a:pPr marL="0" indent="0">
                        <a:buNone/>
                      </a:pPr>
                      <a:r>
                        <a:rPr sz="1200" b="1">
                          <a:solidFill>
                            <a:srgbClr val="FFFFFF"/>
                          </a:solidFill>
                          <a:latin typeface="Calibri"/>
                          <a:ea typeface="Calibri"/>
                          <a:cs typeface="Calibri"/>
                        </a:rPr>
                        <a:t>Milestone / Task</a:t>
                      </a:r>
                      <a:endParaRPr sz="1200">
                        <a:latin typeface="Calibri"/>
                        <a:ea typeface="Calibri"/>
                        <a:cs typeface="Calibri"/>
                      </a:endParaRPr>
                    </a:p>
                  </a:txBody>
                  <a:tcPr marL="91440" marR="91440" marT="45720" marB="45720">
                    <a:lnL w="12700" cmpd="sng">
                      <a:solidFill>
                        <a:srgbClr val="D6DEE6"/>
                      </a:solidFill>
                      <a:prstDash val="solid"/>
                    </a:lnL>
                    <a:lnR w="12700" cmpd="sng">
                      <a:solidFill>
                        <a:srgbClr val="D6DEE6"/>
                      </a:solidFill>
                      <a:prstDash val="solid"/>
                    </a:lnR>
                    <a:lnT w="12700" cmpd="sng">
                      <a:solidFill>
                        <a:srgbClr val="D6DEE6"/>
                      </a:solidFill>
                      <a:prstDash val="solid"/>
                    </a:lnT>
                    <a:lnB w="12700" cmpd="sng">
                      <a:solidFill>
                        <a:srgbClr val="D6DEE6"/>
                      </a:solidFill>
                      <a:prstDash val="solid"/>
                    </a:lnB>
                    <a:solidFill>
                      <a:srgbClr val="14375E"/>
                    </a:solidFill>
                  </a:tcPr>
                </a:tc>
                <a:tc>
                  <a:txBody>
                    <a:bodyPr/>
                    <a:lstStyle/>
                    <a:p>
                      <a:pPr marL="0" indent="0">
                        <a:buNone/>
                      </a:pPr>
                      <a:r>
                        <a:rPr sz="1200" b="1">
                          <a:solidFill>
                            <a:srgbClr val="FFFFFF"/>
                          </a:solidFill>
                          <a:latin typeface="Calibri"/>
                          <a:ea typeface="Calibri"/>
                          <a:cs typeface="Calibri"/>
                        </a:rPr>
                        <a:t>Target date</a:t>
                      </a:r>
                      <a:endParaRPr sz="1200">
                        <a:latin typeface="Calibri"/>
                        <a:ea typeface="Calibri"/>
                        <a:cs typeface="Calibri"/>
                      </a:endParaRPr>
                    </a:p>
                  </a:txBody>
                  <a:tcPr marL="91440" marR="91440" marT="45720" marB="45720">
                    <a:lnL w="12700" cmpd="sng">
                      <a:solidFill>
                        <a:srgbClr val="D6DEE6"/>
                      </a:solidFill>
                      <a:prstDash val="solid"/>
                    </a:lnL>
                    <a:lnR w="12700" cmpd="sng">
                      <a:solidFill>
                        <a:srgbClr val="D6DEE6"/>
                      </a:solidFill>
                      <a:prstDash val="solid"/>
                    </a:lnR>
                    <a:lnT w="12700" cmpd="sng">
                      <a:solidFill>
                        <a:srgbClr val="D6DEE6"/>
                      </a:solidFill>
                      <a:prstDash val="solid"/>
                    </a:lnT>
                    <a:lnB w="12700" cmpd="sng">
                      <a:solidFill>
                        <a:srgbClr val="D6DEE6"/>
                      </a:solidFill>
                      <a:prstDash val="solid"/>
                    </a:lnB>
                    <a:solidFill>
                      <a:srgbClr val="14375E"/>
                    </a:solidFill>
                  </a:tcPr>
                </a:tc>
                <a:tc>
                  <a:txBody>
                    <a:bodyPr/>
                    <a:lstStyle/>
                    <a:p>
                      <a:pPr marL="0" indent="0">
                        <a:buNone/>
                      </a:pPr>
                      <a:r>
                        <a:rPr sz="1200" b="1">
                          <a:solidFill>
                            <a:srgbClr val="FFFFFF"/>
                          </a:solidFill>
                          <a:latin typeface="Calibri"/>
                          <a:ea typeface="Calibri"/>
                          <a:cs typeface="Calibri"/>
                        </a:rPr>
                        <a:t>Owner</a:t>
                      </a:r>
                      <a:endParaRPr sz="1200">
                        <a:latin typeface="Calibri"/>
                        <a:ea typeface="Calibri"/>
                        <a:cs typeface="Calibri"/>
                      </a:endParaRPr>
                    </a:p>
                  </a:txBody>
                  <a:tcPr marL="91440" marR="91440" marT="45720" marB="45720">
                    <a:lnL w="12700" cmpd="sng">
                      <a:solidFill>
                        <a:srgbClr val="D6DEE6"/>
                      </a:solidFill>
                      <a:prstDash val="solid"/>
                    </a:lnL>
                    <a:lnR w="12700" cmpd="sng">
                      <a:solidFill>
                        <a:srgbClr val="D6DEE6"/>
                      </a:solidFill>
                      <a:prstDash val="solid"/>
                    </a:lnR>
                    <a:lnT w="12700" cmpd="sng">
                      <a:solidFill>
                        <a:srgbClr val="D6DEE6"/>
                      </a:solidFill>
                      <a:prstDash val="solid"/>
                    </a:lnT>
                    <a:lnB w="12700" cmpd="sng">
                      <a:solidFill>
                        <a:srgbClr val="D6DEE6"/>
                      </a:solidFill>
                      <a:prstDash val="solid"/>
                    </a:lnB>
                    <a:solidFill>
                      <a:srgbClr val="14375E"/>
                    </a:solidFill>
                  </a:tcPr>
                </a:tc>
                <a:tc>
                  <a:txBody>
                    <a:bodyPr/>
                    <a:lstStyle/>
                    <a:p>
                      <a:pPr marL="0" indent="0">
                        <a:buNone/>
                      </a:pPr>
                      <a:r>
                        <a:rPr sz="1200" b="1">
                          <a:solidFill>
                            <a:srgbClr val="FFFFFF"/>
                          </a:solidFill>
                          <a:latin typeface="Calibri"/>
                          <a:ea typeface="Calibri"/>
                          <a:cs typeface="Calibri"/>
                        </a:rPr>
                        <a:t>Status</a:t>
                      </a:r>
                      <a:endParaRPr sz="1200">
                        <a:latin typeface="Calibri"/>
                        <a:ea typeface="Calibri"/>
                        <a:cs typeface="Calibri"/>
                      </a:endParaRPr>
                    </a:p>
                  </a:txBody>
                  <a:tcPr marL="91440" marR="91440" marT="45720" marB="45720">
                    <a:lnL w="12700" cmpd="sng">
                      <a:solidFill>
                        <a:srgbClr val="D6DEE6"/>
                      </a:solidFill>
                      <a:prstDash val="solid"/>
                    </a:lnL>
                    <a:lnR w="12700" cmpd="sng">
                      <a:solidFill>
                        <a:srgbClr val="D6DEE6"/>
                      </a:solidFill>
                      <a:prstDash val="solid"/>
                    </a:lnR>
                    <a:lnT w="12700" cmpd="sng">
                      <a:solidFill>
                        <a:srgbClr val="D6DEE6"/>
                      </a:solidFill>
                      <a:prstDash val="solid"/>
                    </a:lnT>
                    <a:lnB w="12700" cmpd="sng">
                      <a:solidFill>
                        <a:srgbClr val="D6DEE6"/>
                      </a:solidFill>
                      <a:prstDash val="solid"/>
                    </a:lnB>
                    <a:solidFill>
                      <a:srgbClr val="14375E"/>
                    </a:solidFill>
                  </a:tcPr>
                </a:tc>
              </a:tr>
              <a:tr h="304800">
                <a:tc>
                  <a:txBody>
                    <a:bodyPr/>
                    <a:lstStyle/>
                    <a:p>
                      <a:pPr marL="0" indent="0">
                        <a:buNone/>
                      </a:pPr>
                      <a:r>
                        <a:rPr sz="1200" b="0">
                          <a:solidFill>
                            <a:srgbClr val="1A1A1A"/>
                          </a:solidFill>
                          <a:latin typeface="Calibri"/>
                          <a:ea typeface="Calibri"/>
                          <a:cs typeface="Calibri"/>
                        </a:rPr>
                        <a:t>Agent + both defenses</a:t>
                      </a:r>
                      <a:endParaRPr sz="1200">
                        <a:latin typeface="Calibri"/>
                        <a:ea typeface="Calibri"/>
                        <a:cs typeface="Calibri"/>
                      </a:endParaRPr>
                    </a:p>
                  </a:txBody>
                  <a:tcPr marL="91440" marR="91440" marT="45720" marB="45720">
                    <a:lnL w="12700" cmpd="sng">
                      <a:solidFill>
                        <a:srgbClr val="D6DEE6"/>
                      </a:solidFill>
                      <a:prstDash val="solid"/>
                    </a:lnL>
                    <a:lnR w="12700" cmpd="sng">
                      <a:solidFill>
                        <a:srgbClr val="D6DEE6"/>
                      </a:solidFill>
                      <a:prstDash val="solid"/>
                    </a:lnR>
                    <a:lnT w="12700" cmpd="sng">
                      <a:solidFill>
                        <a:srgbClr val="D6DEE6"/>
                      </a:solidFill>
                      <a:prstDash val="solid"/>
                    </a:lnT>
                    <a:lnB w="12700" cmpd="sng">
                      <a:solidFill>
                        <a:srgbClr val="D6DEE6"/>
                      </a:solidFill>
                      <a:prstDash val="solid"/>
                    </a:lnB>
                  </a:tcPr>
                </a:tc>
                <a:tc>
                  <a:txBody>
                    <a:bodyPr/>
                    <a:lstStyle/>
                    <a:p>
                      <a:pPr marL="0" indent="0">
                        <a:buNone/>
                      </a:pPr>
                      <a:r>
                        <a:rPr sz="1200" b="0">
                          <a:solidFill>
                            <a:srgbClr val="1A1A1A"/>
                          </a:solidFill>
                          <a:latin typeface="Calibri"/>
                          <a:ea typeface="Calibri"/>
                          <a:cs typeface="Calibri"/>
                        </a:rPr>
                        <a:t>By Oct 21</a:t>
                      </a:r>
                      <a:endParaRPr sz="1200">
                        <a:latin typeface="Calibri"/>
                        <a:ea typeface="Calibri"/>
                        <a:cs typeface="Calibri"/>
                      </a:endParaRPr>
                    </a:p>
                  </a:txBody>
                  <a:tcPr marL="91440" marR="91440" marT="45720" marB="45720">
                    <a:lnL w="12700" cmpd="sng">
                      <a:solidFill>
                        <a:srgbClr val="D6DEE6"/>
                      </a:solidFill>
                      <a:prstDash val="solid"/>
                    </a:lnL>
                    <a:lnR w="12700" cmpd="sng">
                      <a:solidFill>
                        <a:srgbClr val="D6DEE6"/>
                      </a:solidFill>
                      <a:prstDash val="solid"/>
                    </a:lnR>
                    <a:lnT w="12700" cmpd="sng">
                      <a:solidFill>
                        <a:srgbClr val="D6DEE6"/>
                      </a:solidFill>
                      <a:prstDash val="solid"/>
                    </a:lnT>
                    <a:lnB w="12700" cmpd="sng">
                      <a:solidFill>
                        <a:srgbClr val="D6DEE6"/>
                      </a:solidFill>
                      <a:prstDash val="solid"/>
                    </a:lnB>
                  </a:tcPr>
                </a:tc>
                <a:tc>
                  <a:txBody>
                    <a:bodyPr/>
                    <a:lstStyle/>
                    <a:p>
                      <a:pPr marL="0" indent="0">
                        <a:buNone/>
                      </a:pPr>
                      <a:r>
                        <a:rPr sz="1200" b="0">
                          <a:solidFill>
                            <a:srgbClr val="1A1A1A"/>
                          </a:solidFill>
                          <a:latin typeface="Calibri"/>
                          <a:ea typeface="Calibri"/>
                          <a:cs typeface="Calibri"/>
                        </a:rPr>
                        <a:t>Marawan / Hamza / Kholoud</a:t>
                      </a:r>
                      <a:endParaRPr sz="1200">
                        <a:latin typeface="Calibri"/>
                        <a:ea typeface="Calibri"/>
                        <a:cs typeface="Calibri"/>
                      </a:endParaRPr>
                    </a:p>
                  </a:txBody>
                  <a:tcPr marL="91440" marR="91440" marT="45720" marB="45720">
                    <a:lnL w="12700" cmpd="sng">
                      <a:solidFill>
                        <a:srgbClr val="D6DEE6"/>
                      </a:solidFill>
                      <a:prstDash val="solid"/>
                    </a:lnL>
                    <a:lnR w="12700" cmpd="sng">
                      <a:solidFill>
                        <a:srgbClr val="D6DEE6"/>
                      </a:solidFill>
                      <a:prstDash val="solid"/>
                    </a:lnR>
                    <a:lnT w="12700" cmpd="sng">
                      <a:solidFill>
                        <a:srgbClr val="D6DEE6"/>
                      </a:solidFill>
                      <a:prstDash val="solid"/>
                    </a:lnT>
                    <a:lnB w="12700" cmpd="sng">
                      <a:solidFill>
                        <a:srgbClr val="D6DEE6"/>
                      </a:solidFill>
                      <a:prstDash val="solid"/>
                    </a:lnB>
                  </a:tcPr>
                </a:tc>
                <a:tc>
                  <a:txBody>
                    <a:bodyPr/>
                    <a:lstStyle/>
                    <a:p>
                      <a:pPr marL="0" indent="0">
                        <a:buNone/>
                      </a:pPr>
                      <a:r>
                        <a:rPr sz="1200" b="0">
                          <a:solidFill>
                            <a:srgbClr val="1A1A1A"/>
                          </a:solidFill>
                          <a:latin typeface="Calibri"/>
                          <a:ea typeface="Calibri"/>
                          <a:cs typeface="Calibri"/>
                        </a:rPr>
                        <a:t>Implemented</a:t>
                      </a:r>
                      <a:endParaRPr sz="1200">
                        <a:latin typeface="Calibri"/>
                        <a:ea typeface="Calibri"/>
                        <a:cs typeface="Calibri"/>
                      </a:endParaRPr>
                    </a:p>
                  </a:txBody>
                  <a:tcPr marL="91440" marR="91440" marT="45720" marB="45720">
                    <a:lnL w="12700" cmpd="sng">
                      <a:solidFill>
                        <a:srgbClr val="D6DEE6"/>
                      </a:solidFill>
                      <a:prstDash val="solid"/>
                    </a:lnL>
                    <a:lnR w="12700" cmpd="sng">
                      <a:solidFill>
                        <a:srgbClr val="D6DEE6"/>
                      </a:solidFill>
                      <a:prstDash val="solid"/>
                    </a:lnR>
                    <a:lnT w="12700" cmpd="sng">
                      <a:solidFill>
                        <a:srgbClr val="D6DEE6"/>
                      </a:solidFill>
                      <a:prstDash val="solid"/>
                    </a:lnT>
                    <a:lnB w="12700" cmpd="sng">
                      <a:solidFill>
                        <a:srgbClr val="D6DEE6"/>
                      </a:solidFill>
                      <a:prstDash val="solid"/>
                    </a:lnB>
                  </a:tcPr>
                </a:tc>
              </a:tr>
              <a:tr h="304800">
                <a:tc>
                  <a:txBody>
                    <a:bodyPr/>
                    <a:lstStyle/>
                    <a:p>
                      <a:pPr marL="0" indent="0">
                        <a:buNone/>
                      </a:pPr>
                      <a:r>
                        <a:rPr sz="1200" b="0">
                          <a:solidFill>
                            <a:srgbClr val="1A1A1A"/>
                          </a:solidFill>
                          <a:latin typeface="Calibri"/>
                          <a:ea typeface="Calibri"/>
                          <a:cs typeface="Calibri"/>
                        </a:rPr>
                        <a:t>Corpus + initial evaluation</a:t>
                      </a:r>
                      <a:endParaRPr sz="1200">
                        <a:latin typeface="Calibri"/>
                        <a:ea typeface="Calibri"/>
                        <a:cs typeface="Calibri"/>
                      </a:endParaRPr>
                    </a:p>
                  </a:txBody>
                  <a:tcPr marL="91440" marR="91440" marT="45720" marB="45720">
                    <a:lnL w="12700" cmpd="sng">
                      <a:solidFill>
                        <a:srgbClr val="D6DEE6"/>
                      </a:solidFill>
                      <a:prstDash val="solid"/>
                    </a:lnL>
                    <a:lnR w="12700" cmpd="sng">
                      <a:solidFill>
                        <a:srgbClr val="D6DEE6"/>
                      </a:solidFill>
                      <a:prstDash val="solid"/>
                    </a:lnR>
                    <a:lnT w="12700" cmpd="sng">
                      <a:solidFill>
                        <a:srgbClr val="D6DEE6"/>
                      </a:solidFill>
                      <a:prstDash val="solid"/>
                    </a:lnT>
                    <a:lnB w="12700" cmpd="sng">
                      <a:solidFill>
                        <a:srgbClr val="D6DEE6"/>
                      </a:solidFill>
                      <a:prstDash val="solid"/>
                    </a:lnB>
                  </a:tcPr>
                </a:tc>
                <a:tc>
                  <a:txBody>
                    <a:bodyPr/>
                    <a:lstStyle/>
                    <a:p>
                      <a:pPr marL="0" indent="0">
                        <a:buNone/>
                      </a:pPr>
                      <a:r>
                        <a:rPr sz="1200" b="0">
                          <a:solidFill>
                            <a:srgbClr val="1A1A1A"/>
                          </a:solidFill>
                          <a:latin typeface="Calibri"/>
                          <a:ea typeface="Calibri"/>
                          <a:cs typeface="Calibri"/>
                        </a:rPr>
                        <a:t>By Oct 21</a:t>
                      </a:r>
                      <a:endParaRPr sz="1200">
                        <a:latin typeface="Calibri"/>
                        <a:ea typeface="Calibri"/>
                        <a:cs typeface="Calibri"/>
                      </a:endParaRPr>
                    </a:p>
                  </a:txBody>
                  <a:tcPr marL="91440" marR="91440" marT="45720" marB="45720">
                    <a:lnL w="12700" cmpd="sng">
                      <a:solidFill>
                        <a:srgbClr val="D6DEE6"/>
                      </a:solidFill>
                      <a:prstDash val="solid"/>
                    </a:lnL>
                    <a:lnR w="12700" cmpd="sng">
                      <a:solidFill>
                        <a:srgbClr val="D6DEE6"/>
                      </a:solidFill>
                      <a:prstDash val="solid"/>
                    </a:lnR>
                    <a:lnT w="12700" cmpd="sng">
                      <a:solidFill>
                        <a:srgbClr val="D6DEE6"/>
                      </a:solidFill>
                      <a:prstDash val="solid"/>
                    </a:lnT>
                    <a:lnB w="12700" cmpd="sng">
                      <a:solidFill>
                        <a:srgbClr val="D6DEE6"/>
                      </a:solidFill>
                      <a:prstDash val="solid"/>
                    </a:lnB>
                  </a:tcPr>
                </a:tc>
                <a:tc>
                  <a:txBody>
                    <a:bodyPr/>
                    <a:lstStyle/>
                    <a:p>
                      <a:pPr marL="0" indent="0">
                        <a:buNone/>
                      </a:pPr>
                      <a:r>
                        <a:rPr sz="1200" b="0">
                          <a:solidFill>
                            <a:srgbClr val="1A1A1A"/>
                          </a:solidFill>
                          <a:latin typeface="Calibri"/>
                          <a:ea typeface="Calibri"/>
                          <a:cs typeface="Calibri"/>
                        </a:rPr>
                        <a:t>Youssef / Belal</a:t>
                      </a:r>
                      <a:endParaRPr sz="1200">
                        <a:latin typeface="Calibri"/>
                        <a:ea typeface="Calibri"/>
                        <a:cs typeface="Calibri"/>
                      </a:endParaRPr>
                    </a:p>
                  </a:txBody>
                  <a:tcPr marL="91440" marR="91440" marT="45720" marB="45720">
                    <a:lnL w="12700" cmpd="sng">
                      <a:solidFill>
                        <a:srgbClr val="D6DEE6"/>
                      </a:solidFill>
                      <a:prstDash val="solid"/>
                    </a:lnL>
                    <a:lnR w="12700" cmpd="sng">
                      <a:solidFill>
                        <a:srgbClr val="D6DEE6"/>
                      </a:solidFill>
                      <a:prstDash val="solid"/>
                    </a:lnR>
                    <a:lnT w="12700" cmpd="sng">
                      <a:solidFill>
                        <a:srgbClr val="D6DEE6"/>
                      </a:solidFill>
                      <a:prstDash val="solid"/>
                    </a:lnT>
                    <a:lnB w="12700" cmpd="sng">
                      <a:solidFill>
                        <a:srgbClr val="D6DEE6"/>
                      </a:solidFill>
                      <a:prstDash val="solid"/>
                    </a:lnB>
                  </a:tcPr>
                </a:tc>
                <a:tc>
                  <a:txBody>
                    <a:bodyPr/>
                    <a:lstStyle/>
                    <a:p>
                      <a:pPr marL="0" indent="0">
                        <a:buNone/>
                      </a:pPr>
                      <a:r>
                        <a:rPr sz="1200" b="0">
                          <a:solidFill>
                            <a:srgbClr val="1A1A1A"/>
                          </a:solidFill>
                          <a:latin typeface="Calibri"/>
                          <a:ea typeface="Calibri"/>
                          <a:cs typeface="Calibri"/>
                        </a:rPr>
                        <a:t>Preliminary results</a:t>
                      </a:r>
                      <a:endParaRPr sz="1200">
                        <a:latin typeface="Calibri"/>
                        <a:ea typeface="Calibri"/>
                        <a:cs typeface="Calibri"/>
                      </a:endParaRPr>
                    </a:p>
                  </a:txBody>
                  <a:tcPr marL="91440" marR="91440" marT="45720" marB="45720">
                    <a:lnL w="12700" cmpd="sng">
                      <a:solidFill>
                        <a:srgbClr val="D6DEE6"/>
                      </a:solidFill>
                      <a:prstDash val="solid"/>
                    </a:lnL>
                    <a:lnR w="12700" cmpd="sng">
                      <a:solidFill>
                        <a:srgbClr val="D6DEE6"/>
                      </a:solidFill>
                      <a:prstDash val="solid"/>
                    </a:lnR>
                    <a:lnT w="12700" cmpd="sng">
                      <a:solidFill>
                        <a:srgbClr val="D6DEE6"/>
                      </a:solidFill>
                      <a:prstDash val="solid"/>
                    </a:lnT>
                    <a:lnB w="12700" cmpd="sng">
                      <a:solidFill>
                        <a:srgbClr val="D6DEE6"/>
                      </a:solidFill>
                      <a:prstDash val="solid"/>
                    </a:lnB>
                  </a:tcPr>
                </a:tc>
              </a:tr>
              <a:tr h="304800">
                <a:tc>
                  <a:txBody>
                    <a:bodyPr/>
                    <a:lstStyle/>
                    <a:p>
                      <a:pPr marL="0" indent="0">
                        <a:buNone/>
                      </a:pPr>
                      <a:r>
                        <a:rPr sz="1200" b="0">
                          <a:solidFill>
                            <a:srgbClr val="1A1A1A"/>
                          </a:solidFill>
                          <a:latin typeface="Calibri"/>
                          <a:ea typeface="Calibri"/>
                          <a:cs typeface="Calibri"/>
                        </a:rPr>
                        <a:t>Runtime + explicit live review</a:t>
                      </a:r>
                      <a:endParaRPr sz="1200">
                        <a:latin typeface="Calibri"/>
                        <a:ea typeface="Calibri"/>
                        <a:cs typeface="Calibri"/>
                      </a:endParaRPr>
                    </a:p>
                  </a:txBody>
                  <a:tcPr marL="91440" marR="91440" marT="45720" marB="45720">
                    <a:lnL w="12700" cmpd="sng">
                      <a:solidFill>
                        <a:srgbClr val="D6DEE6"/>
                      </a:solidFill>
                      <a:prstDash val="solid"/>
                    </a:lnL>
                    <a:lnR w="12700" cmpd="sng">
                      <a:solidFill>
                        <a:srgbClr val="D6DEE6"/>
                      </a:solidFill>
                      <a:prstDash val="solid"/>
                    </a:lnR>
                    <a:lnT w="12700" cmpd="sng">
                      <a:solidFill>
                        <a:srgbClr val="D6DEE6"/>
                      </a:solidFill>
                      <a:prstDash val="solid"/>
                    </a:lnT>
                    <a:lnB w="12700" cmpd="sng">
                      <a:solidFill>
                        <a:srgbClr val="D6DEE6"/>
                      </a:solidFill>
                      <a:prstDash val="solid"/>
                    </a:lnB>
                  </a:tcPr>
                </a:tc>
                <a:tc>
                  <a:txBody>
                    <a:bodyPr/>
                    <a:lstStyle/>
                    <a:p>
                      <a:pPr marL="0" indent="0">
                        <a:buNone/>
                      </a:pPr>
                      <a:r>
                        <a:rPr sz="1200" b="0">
                          <a:solidFill>
                            <a:srgbClr val="1A1A1A"/>
                          </a:solidFill>
                          <a:latin typeface="Calibri"/>
                          <a:ea typeface="Calibri"/>
                          <a:cs typeface="Calibri"/>
                        </a:rPr>
                        <a:t>Oct 21</a:t>
                      </a:r>
                      <a:endParaRPr sz="1200">
                        <a:latin typeface="Calibri"/>
                        <a:ea typeface="Calibri"/>
                        <a:cs typeface="Calibri"/>
                      </a:endParaRPr>
                    </a:p>
                  </a:txBody>
                  <a:tcPr marL="91440" marR="91440" marT="45720" marB="45720">
                    <a:lnL w="12700" cmpd="sng">
                      <a:solidFill>
                        <a:srgbClr val="D6DEE6"/>
                      </a:solidFill>
                      <a:prstDash val="solid"/>
                    </a:lnL>
                    <a:lnR w="12700" cmpd="sng">
                      <a:solidFill>
                        <a:srgbClr val="D6DEE6"/>
                      </a:solidFill>
                      <a:prstDash val="solid"/>
                    </a:lnR>
                    <a:lnT w="12700" cmpd="sng">
                      <a:solidFill>
                        <a:srgbClr val="D6DEE6"/>
                      </a:solidFill>
                      <a:prstDash val="solid"/>
                    </a:lnT>
                    <a:lnB w="12700" cmpd="sng">
                      <a:solidFill>
                        <a:srgbClr val="D6DEE6"/>
                      </a:solidFill>
                      <a:prstDash val="solid"/>
                    </a:lnB>
                  </a:tcPr>
                </a:tc>
                <a:tc>
                  <a:txBody>
                    <a:bodyPr/>
                    <a:lstStyle/>
                    <a:p>
                      <a:pPr marL="0" indent="0">
                        <a:buNone/>
                      </a:pPr>
                      <a:r>
                        <a:rPr sz="1200" b="0">
                          <a:solidFill>
                            <a:srgbClr val="1A1A1A"/>
                          </a:solidFill>
                          <a:latin typeface="Calibri"/>
                          <a:ea typeface="Calibri"/>
                          <a:cs typeface="Calibri"/>
                        </a:rPr>
                        <a:t>Team</a:t>
                      </a:r>
                      <a:endParaRPr sz="1200">
                        <a:latin typeface="Calibri"/>
                        <a:ea typeface="Calibri"/>
                        <a:cs typeface="Calibri"/>
                      </a:endParaRPr>
                    </a:p>
                  </a:txBody>
                  <a:tcPr marL="91440" marR="91440" marT="45720" marB="45720">
                    <a:lnL w="12700" cmpd="sng">
                      <a:solidFill>
                        <a:srgbClr val="D6DEE6"/>
                      </a:solidFill>
                      <a:prstDash val="solid"/>
                    </a:lnL>
                    <a:lnR w="12700" cmpd="sng">
                      <a:solidFill>
                        <a:srgbClr val="D6DEE6"/>
                      </a:solidFill>
                      <a:prstDash val="solid"/>
                    </a:lnR>
                    <a:lnT w="12700" cmpd="sng">
                      <a:solidFill>
                        <a:srgbClr val="D6DEE6"/>
                      </a:solidFill>
                      <a:prstDash val="solid"/>
                    </a:lnT>
                    <a:lnB w="12700" cmpd="sng">
                      <a:solidFill>
                        <a:srgbClr val="D6DEE6"/>
                      </a:solidFill>
                      <a:prstDash val="solid"/>
                    </a:lnB>
                  </a:tcPr>
                </a:tc>
                <a:tc>
                  <a:txBody>
                    <a:bodyPr/>
                    <a:lstStyle/>
                    <a:p>
                      <a:pPr marL="0" indent="0">
                        <a:buNone/>
                      </a:pPr>
                      <a:r>
                        <a:rPr sz="1200" b="0">
                          <a:solidFill>
                            <a:srgbClr val="1A1A1A"/>
                          </a:solidFill>
                          <a:latin typeface="Calibri"/>
                          <a:ea typeface="Calibri"/>
                          <a:cs typeface="Calibri"/>
                        </a:rPr>
                        <a:t>Local checks passed</a:t>
                      </a:r>
                      <a:endParaRPr sz="1200">
                        <a:latin typeface="Calibri"/>
                        <a:ea typeface="Calibri"/>
                        <a:cs typeface="Calibri"/>
                      </a:endParaRPr>
                    </a:p>
                  </a:txBody>
                  <a:tcPr marL="91440" marR="91440" marT="45720" marB="45720">
                    <a:lnL w="12700" cmpd="sng">
                      <a:solidFill>
                        <a:srgbClr val="D6DEE6"/>
                      </a:solidFill>
                      <a:prstDash val="solid"/>
                    </a:lnL>
                    <a:lnR w="12700" cmpd="sng">
                      <a:solidFill>
                        <a:srgbClr val="D6DEE6"/>
                      </a:solidFill>
                      <a:prstDash val="solid"/>
                    </a:lnR>
                    <a:lnT w="12700" cmpd="sng">
                      <a:solidFill>
                        <a:srgbClr val="D6DEE6"/>
                      </a:solidFill>
                      <a:prstDash val="solid"/>
                    </a:lnT>
                    <a:lnB w="12700" cmpd="sng">
                      <a:solidFill>
                        <a:srgbClr val="D6DEE6"/>
                      </a:solidFill>
                      <a:prstDash val="solid"/>
                    </a:lnB>
                  </a:tcPr>
                </a:tc>
              </a:tr>
              <a:tr h="304800">
                <a:tc>
                  <a:txBody>
                    <a:bodyPr/>
                    <a:lstStyle/>
                    <a:p>
                      <a:pPr marL="0" indent="0">
                        <a:buNone/>
                      </a:pPr>
                      <a:r>
                        <a:rPr sz="1200" b="0">
                          <a:solidFill>
                            <a:srgbClr val="1A1A1A"/>
                          </a:solidFill>
                          <a:latin typeface="Calibri"/>
                          <a:ea typeface="Calibri"/>
                          <a:cs typeface="Calibri"/>
                        </a:rPr>
                        <a:t>Hosted API check + rehearsal</a:t>
                      </a:r>
                      <a:endParaRPr sz="1200">
                        <a:latin typeface="Calibri"/>
                        <a:ea typeface="Calibri"/>
                        <a:cs typeface="Calibri"/>
                      </a:endParaRPr>
                    </a:p>
                  </a:txBody>
                  <a:tcPr marL="91440" marR="91440" marT="45720" marB="45720">
                    <a:lnL w="12700" cmpd="sng">
                      <a:solidFill>
                        <a:srgbClr val="D6DEE6"/>
                      </a:solidFill>
                      <a:prstDash val="solid"/>
                    </a:lnL>
                    <a:lnR w="12700" cmpd="sng">
                      <a:solidFill>
                        <a:srgbClr val="D6DEE6"/>
                      </a:solidFill>
                      <a:prstDash val="solid"/>
                    </a:lnR>
                    <a:lnT w="12700" cmpd="sng">
                      <a:solidFill>
                        <a:srgbClr val="D6DEE6"/>
                      </a:solidFill>
                      <a:prstDash val="solid"/>
                    </a:lnT>
                    <a:lnB w="12700" cmpd="sng">
                      <a:solidFill>
                        <a:srgbClr val="D6DEE6"/>
                      </a:solidFill>
                      <a:prstDash val="solid"/>
                    </a:lnB>
                  </a:tcPr>
                </a:tc>
                <a:tc>
                  <a:txBody>
                    <a:bodyPr/>
                    <a:lstStyle/>
                    <a:p>
                      <a:pPr marL="0" indent="0">
                        <a:buNone/>
                      </a:pPr>
                      <a:r>
                        <a:rPr sz="1200" b="0">
                          <a:solidFill>
                            <a:srgbClr val="1A1A1A"/>
                          </a:solidFill>
                          <a:latin typeface="Calibri"/>
                          <a:ea typeface="Calibri"/>
                          <a:cs typeface="Calibri"/>
                        </a:rPr>
                        <a:t>Oct 26</a:t>
                      </a:r>
                      <a:endParaRPr sz="1200">
                        <a:latin typeface="Calibri"/>
                        <a:ea typeface="Calibri"/>
                        <a:cs typeface="Calibri"/>
                      </a:endParaRPr>
                    </a:p>
                  </a:txBody>
                  <a:tcPr marL="91440" marR="91440" marT="45720" marB="45720">
                    <a:lnL w="12700" cmpd="sng">
                      <a:solidFill>
                        <a:srgbClr val="D6DEE6"/>
                      </a:solidFill>
                      <a:prstDash val="solid"/>
                    </a:lnL>
                    <a:lnR w="12700" cmpd="sng">
                      <a:solidFill>
                        <a:srgbClr val="D6DEE6"/>
                      </a:solidFill>
                      <a:prstDash val="solid"/>
                    </a:lnR>
                    <a:lnT w="12700" cmpd="sng">
                      <a:solidFill>
                        <a:srgbClr val="D6DEE6"/>
                      </a:solidFill>
                      <a:prstDash val="solid"/>
                    </a:lnT>
                    <a:lnB w="12700" cmpd="sng">
                      <a:solidFill>
                        <a:srgbClr val="D6DEE6"/>
                      </a:solidFill>
                      <a:prstDash val="solid"/>
                    </a:lnB>
                  </a:tcPr>
                </a:tc>
                <a:tc>
                  <a:txBody>
                    <a:bodyPr/>
                    <a:lstStyle/>
                    <a:p>
                      <a:pPr marL="0" indent="0">
                        <a:buNone/>
                      </a:pPr>
                      <a:r>
                        <a:rPr sz="1200" b="0">
                          <a:solidFill>
                            <a:srgbClr val="1A1A1A"/>
                          </a:solidFill>
                          <a:latin typeface="Calibri"/>
                          <a:ea typeface="Calibri"/>
                          <a:cs typeface="Calibri"/>
                        </a:rPr>
                        <a:t>All</a:t>
                      </a:r>
                      <a:endParaRPr sz="1200">
                        <a:latin typeface="Calibri"/>
                        <a:ea typeface="Calibri"/>
                        <a:cs typeface="Calibri"/>
                      </a:endParaRPr>
                    </a:p>
                  </a:txBody>
                  <a:tcPr marL="91440" marR="91440" marT="45720" marB="45720">
                    <a:lnL w="12700" cmpd="sng">
                      <a:solidFill>
                        <a:srgbClr val="D6DEE6"/>
                      </a:solidFill>
                      <a:prstDash val="solid"/>
                    </a:lnL>
                    <a:lnR w="12700" cmpd="sng">
                      <a:solidFill>
                        <a:srgbClr val="D6DEE6"/>
                      </a:solidFill>
                      <a:prstDash val="solid"/>
                    </a:lnR>
                    <a:lnT w="12700" cmpd="sng">
                      <a:solidFill>
                        <a:srgbClr val="D6DEE6"/>
                      </a:solidFill>
                      <a:prstDash val="solid"/>
                    </a:lnT>
                    <a:lnB w="12700" cmpd="sng">
                      <a:solidFill>
                        <a:srgbClr val="D6DEE6"/>
                      </a:solidFill>
                      <a:prstDash val="solid"/>
                    </a:lnB>
                  </a:tcPr>
                </a:tc>
                <a:tc>
                  <a:txBody>
                    <a:bodyPr/>
                    <a:lstStyle/>
                    <a:p>
                      <a:pPr marL="0" indent="0">
                        <a:buNone/>
                      </a:pPr>
                      <a:r>
                        <a:rPr sz="1200" b="0">
                          <a:solidFill>
                            <a:srgbClr val="1A1A1A"/>
                          </a:solidFill>
                          <a:latin typeface="Calibri"/>
                          <a:ea typeface="Calibri"/>
                          <a:cs typeface="Calibri"/>
                        </a:rPr>
                        <a:t>Pending</a:t>
                      </a:r>
                      <a:endParaRPr sz="1200">
                        <a:latin typeface="Calibri"/>
                        <a:ea typeface="Calibri"/>
                        <a:cs typeface="Calibri"/>
                      </a:endParaRPr>
                    </a:p>
                  </a:txBody>
                  <a:tcPr marL="91440" marR="91440" marT="45720" marB="45720">
                    <a:lnL w="12700" cmpd="sng">
                      <a:solidFill>
                        <a:srgbClr val="D6DEE6"/>
                      </a:solidFill>
                      <a:prstDash val="solid"/>
                    </a:lnL>
                    <a:lnR w="12700" cmpd="sng">
                      <a:solidFill>
                        <a:srgbClr val="D6DEE6"/>
                      </a:solidFill>
                      <a:prstDash val="solid"/>
                    </a:lnR>
                    <a:lnT w="12700" cmpd="sng">
                      <a:solidFill>
                        <a:srgbClr val="D6DEE6"/>
                      </a:solidFill>
                      <a:prstDash val="solid"/>
                    </a:lnT>
                    <a:lnB w="12700" cmpd="sng">
                      <a:solidFill>
                        <a:srgbClr val="D6DEE6"/>
                      </a:solidFill>
                      <a:prstDash val="solid"/>
                    </a:lnB>
                  </a:tcPr>
                </a:tc>
              </a:tr>
              <a:tr h="304800">
                <a:tc>
                  <a:txBody>
                    <a:bodyPr/>
                    <a:lstStyle/>
                    <a:p>
                      <a:r>
                        <a:rPr sz="1200" b="0">
                          <a:solidFill>
                            <a:srgbClr val="1A1A1A"/>
                          </a:solidFill>
                        </a:rPr>
                        <a:t>Freeze + held-out evaluation</a:t>
                      </a:r>
                    </a:p>
                  </a:txBody>
                  <a:tcPr marL="91440" marR="91440" marT="45720" marB="45720">
                    <a:lnL w="12700" cmpd="sng">
                      <a:solidFill>
                        <a:srgbClr val="D6DEE6"/>
                      </a:solidFill>
                      <a:prstDash val="solid"/>
                    </a:lnL>
                    <a:lnR w="12700" cmpd="sng">
                      <a:solidFill>
                        <a:srgbClr val="D6DEE6"/>
                      </a:solidFill>
                      <a:prstDash val="solid"/>
                    </a:lnR>
                    <a:lnT w="12700" cmpd="sng">
                      <a:solidFill>
                        <a:srgbClr val="D6DEE6"/>
                      </a:solidFill>
                      <a:prstDash val="solid"/>
                    </a:lnT>
                    <a:lnB w="12700" cmpd="sng">
                      <a:solidFill>
                        <a:srgbClr val="D6DEE6"/>
                      </a:solidFill>
                      <a:prstDash val="solid"/>
                    </a:lnB>
                  </a:tcPr>
                </a:tc>
                <a:tc>
                  <a:txBody>
                    <a:bodyPr/>
                    <a:lstStyle/>
                    <a:p>
                      <a:r>
                        <a:rPr sz="1200" b="0">
                          <a:solidFill>
                            <a:srgbClr val="1A1A1A"/>
                          </a:solidFill>
                        </a:rPr>
                        <a:t>Nov 4</a:t>
                      </a:r>
                    </a:p>
                  </a:txBody>
                  <a:tcPr marL="91440" marR="91440" marT="45720" marB="45720">
                    <a:lnL w="12700" cmpd="sng">
                      <a:solidFill>
                        <a:srgbClr val="D6DEE6"/>
                      </a:solidFill>
                      <a:prstDash val="solid"/>
                    </a:lnL>
                    <a:lnR w="12700" cmpd="sng">
                      <a:solidFill>
                        <a:srgbClr val="D6DEE6"/>
                      </a:solidFill>
                      <a:prstDash val="solid"/>
                    </a:lnR>
                    <a:lnT w="12700" cmpd="sng">
                      <a:solidFill>
                        <a:srgbClr val="D6DEE6"/>
                      </a:solidFill>
                      <a:prstDash val="solid"/>
                    </a:lnT>
                    <a:lnB w="12700" cmpd="sng">
                      <a:solidFill>
                        <a:srgbClr val="D6DEE6"/>
                      </a:solidFill>
                      <a:prstDash val="solid"/>
                    </a:lnB>
                  </a:tcPr>
                </a:tc>
                <a:tc>
                  <a:txBody>
                    <a:bodyPr/>
                    <a:lstStyle/>
                    <a:p>
                      <a:r>
                        <a:rPr sz="1200" b="0">
                          <a:solidFill>
                            <a:srgbClr val="1A1A1A"/>
                          </a:solidFill>
                        </a:rPr>
                        <a:t>Belal + all</a:t>
                      </a:r>
                    </a:p>
                  </a:txBody>
                  <a:tcPr marL="91440" marR="91440" marT="45720" marB="45720">
                    <a:lnL w="12700" cmpd="sng">
                      <a:solidFill>
                        <a:srgbClr val="D6DEE6"/>
                      </a:solidFill>
                      <a:prstDash val="solid"/>
                    </a:lnL>
                    <a:lnR w="12700" cmpd="sng">
                      <a:solidFill>
                        <a:srgbClr val="D6DEE6"/>
                      </a:solidFill>
                      <a:prstDash val="solid"/>
                    </a:lnR>
                    <a:lnT w="12700" cmpd="sng">
                      <a:solidFill>
                        <a:srgbClr val="D6DEE6"/>
                      </a:solidFill>
                      <a:prstDash val="solid"/>
                    </a:lnT>
                    <a:lnB w="12700" cmpd="sng">
                      <a:solidFill>
                        <a:srgbClr val="D6DEE6"/>
                      </a:solidFill>
                      <a:prstDash val="solid"/>
                    </a:lnB>
                  </a:tcPr>
                </a:tc>
                <a:tc>
                  <a:txBody>
                    <a:bodyPr/>
                    <a:lstStyle/>
                    <a:p>
                      <a:r>
                        <a:rPr sz="1200" b="0">
                          <a:solidFill>
                            <a:srgbClr val="1A1A1A"/>
                          </a:solidFill>
                        </a:rPr>
                        <a:t>Planned</a:t>
                      </a:r>
                    </a:p>
                  </a:txBody>
                  <a:tcPr marL="91440" marR="91440" marT="45720" marB="45720">
                    <a:lnL w="12700" cmpd="sng">
                      <a:solidFill>
                        <a:srgbClr val="D6DEE6"/>
                      </a:solidFill>
                      <a:prstDash val="solid"/>
                    </a:lnL>
                    <a:lnR w="12700" cmpd="sng">
                      <a:solidFill>
                        <a:srgbClr val="D6DEE6"/>
                      </a:solidFill>
                      <a:prstDash val="solid"/>
                    </a:lnR>
                    <a:lnT w="12700" cmpd="sng">
                      <a:solidFill>
                        <a:srgbClr val="D6DEE6"/>
                      </a:solidFill>
                      <a:prstDash val="solid"/>
                    </a:lnT>
                    <a:lnB w="12700" cmpd="sng">
                      <a:solidFill>
                        <a:srgbClr val="D6DEE6"/>
                      </a:solidFill>
                      <a:prstDash val="solid"/>
                    </a:lnB>
                  </a:tcPr>
                </a:tc>
              </a:tr>
              <a:tr h="304800">
                <a:tc>
                  <a:txBody>
                    <a:bodyPr/>
                    <a:lstStyle/>
                    <a:p>
                      <a:r>
                        <a:rPr sz="1200" b="0">
                          <a:solidFill>
                            <a:srgbClr val="1A1A1A"/>
                          </a:solidFill>
                        </a:rPr>
                        <a:t>Final report + presentation</a:t>
                      </a:r>
                    </a:p>
                  </a:txBody>
                  <a:tcPr marL="91440" marR="91440" marT="45720" marB="45720">
                    <a:lnL w="12700" cmpd="sng">
                      <a:solidFill>
                        <a:srgbClr val="D6DEE6"/>
                      </a:solidFill>
                      <a:prstDash val="solid"/>
                    </a:lnL>
                    <a:lnR w="12700" cmpd="sng">
                      <a:solidFill>
                        <a:srgbClr val="D6DEE6"/>
                      </a:solidFill>
                      <a:prstDash val="solid"/>
                    </a:lnR>
                    <a:lnT w="12700" cmpd="sng">
                      <a:solidFill>
                        <a:srgbClr val="D6DEE6"/>
                      </a:solidFill>
                      <a:prstDash val="solid"/>
                    </a:lnT>
                    <a:lnB w="12700" cmpd="sng">
                      <a:solidFill>
                        <a:srgbClr val="D6DEE6"/>
                      </a:solidFill>
                      <a:prstDash val="solid"/>
                    </a:lnB>
                  </a:tcPr>
                </a:tc>
                <a:tc>
                  <a:txBody>
                    <a:bodyPr/>
                    <a:lstStyle/>
                    <a:p>
                      <a:r>
                        <a:rPr sz="1200" b="0">
                          <a:solidFill>
                            <a:srgbClr val="1A1A1A"/>
                          </a:solidFill>
                        </a:rPr>
                        <a:t>Nov 11*</a:t>
                      </a:r>
                    </a:p>
                  </a:txBody>
                  <a:tcPr marL="91440" marR="91440" marT="45720" marB="45720">
                    <a:lnL w="12700" cmpd="sng">
                      <a:solidFill>
                        <a:srgbClr val="D6DEE6"/>
                      </a:solidFill>
                      <a:prstDash val="solid"/>
                    </a:lnL>
                    <a:lnR w="12700" cmpd="sng">
                      <a:solidFill>
                        <a:srgbClr val="D6DEE6"/>
                      </a:solidFill>
                      <a:prstDash val="solid"/>
                    </a:lnR>
                    <a:lnT w="12700" cmpd="sng">
                      <a:solidFill>
                        <a:srgbClr val="D6DEE6"/>
                      </a:solidFill>
                      <a:prstDash val="solid"/>
                    </a:lnT>
                    <a:lnB w="12700" cmpd="sng">
                      <a:solidFill>
                        <a:srgbClr val="D6DEE6"/>
                      </a:solidFill>
                      <a:prstDash val="solid"/>
                    </a:lnB>
                  </a:tcPr>
                </a:tc>
                <a:tc>
                  <a:txBody>
                    <a:bodyPr/>
                    <a:lstStyle/>
                    <a:p>
                      <a:r>
                        <a:rPr sz="1200" b="0">
                          <a:solidFill>
                            <a:srgbClr val="1A1A1A"/>
                          </a:solidFill>
                        </a:rPr>
                        <a:t>All</a:t>
                      </a:r>
                    </a:p>
                  </a:txBody>
                  <a:tcPr marL="91440" marR="91440" marT="45720" marB="45720">
                    <a:lnL w="12700" cmpd="sng">
                      <a:solidFill>
                        <a:srgbClr val="D6DEE6"/>
                      </a:solidFill>
                      <a:prstDash val="solid"/>
                    </a:lnL>
                    <a:lnR w="12700" cmpd="sng">
                      <a:solidFill>
                        <a:srgbClr val="D6DEE6"/>
                      </a:solidFill>
                      <a:prstDash val="solid"/>
                    </a:lnR>
                    <a:lnT w="12700" cmpd="sng">
                      <a:solidFill>
                        <a:srgbClr val="D6DEE6"/>
                      </a:solidFill>
                      <a:prstDash val="solid"/>
                    </a:lnT>
                    <a:lnB w="12700" cmpd="sng">
                      <a:solidFill>
                        <a:srgbClr val="D6DEE6"/>
                      </a:solidFill>
                      <a:prstDash val="solid"/>
                    </a:lnB>
                  </a:tcPr>
                </a:tc>
                <a:tc>
                  <a:txBody>
                    <a:bodyPr/>
                    <a:lstStyle/>
                    <a:p>
                      <a:r>
                        <a:rPr sz="1200" b="0">
                          <a:solidFill>
                            <a:srgbClr val="1A1A1A"/>
                          </a:solidFill>
                        </a:rPr>
                        <a:t>Planned</a:t>
                      </a:r>
                    </a:p>
                  </a:txBody>
                  <a:tcPr marL="91440" marR="91440" marT="45720" marB="45720">
                    <a:lnL w="12700" cmpd="sng">
                      <a:solidFill>
                        <a:srgbClr val="D6DEE6"/>
                      </a:solidFill>
                      <a:prstDash val="solid"/>
                    </a:lnL>
                    <a:lnR w="12700" cmpd="sng">
                      <a:solidFill>
                        <a:srgbClr val="D6DEE6"/>
                      </a:solidFill>
                      <a:prstDash val="solid"/>
                    </a:lnR>
                    <a:lnT w="12700" cmpd="sng">
                      <a:solidFill>
                        <a:srgbClr val="D6DEE6"/>
                      </a:solidFill>
                      <a:prstDash val="solid"/>
                    </a:lnT>
                    <a:lnB w="12700" cmpd="sng">
                      <a:solidFill>
                        <a:srgbClr val="D6DEE6"/>
                      </a:solidFill>
                      <a:prstDash val="solid"/>
                    </a:lnB>
                  </a:tcPr>
                </a:tc>
              </a:tr>
              <a:tr h="304800">
                <a:tc>
                  <a:txBody>
                    <a:bodyPr/>
                    <a:lstStyle/>
                    <a:p>
                      <a:r>
                        <a:rPr sz="1200" b="0">
                          <a:solidFill>
                            <a:srgbClr val="1A1A1A"/>
                          </a:solidFill>
                        </a:rPr>
                        <a:t>*Confirm Week 14 deadline</a:t>
                      </a:r>
                    </a:p>
                  </a:txBody>
                  <a:tcPr marL="91440" marR="91440" marT="45720" marB="45720">
                    <a:lnL w="12700" cmpd="sng">
                      <a:solidFill>
                        <a:srgbClr val="D6DEE6"/>
                      </a:solidFill>
                      <a:prstDash val="solid"/>
                    </a:lnL>
                    <a:lnR w="12700" cmpd="sng">
                      <a:solidFill>
                        <a:srgbClr val="D6DEE6"/>
                      </a:solidFill>
                      <a:prstDash val="solid"/>
                    </a:lnR>
                    <a:lnT w="12700" cmpd="sng">
                      <a:solidFill>
                        <a:srgbClr val="D6DEE6"/>
                      </a:solidFill>
                      <a:prstDash val="solid"/>
                    </a:lnT>
                    <a:lnB w="12700" cmpd="sng">
                      <a:solidFill>
                        <a:srgbClr val="D6DEE6"/>
                      </a:solidFill>
                      <a:prstDash val="solid"/>
                    </a:lnB>
                  </a:tcPr>
                </a:tc>
                <a:tc>
                  <a:txBody>
                    <a:bodyPr/>
                    <a:lstStyle/>
                    <a:p>
                      <a:r>
                        <a:rPr sz="1200" b="0">
                          <a:solidFill>
                            <a:srgbClr val="1A1A1A"/>
                          </a:solidFill>
                        </a:rPr>
                        <a:t>With instructor</a:t>
                      </a:r>
                    </a:p>
                  </a:txBody>
                  <a:tcPr marL="91440" marR="91440" marT="45720" marB="45720">
                    <a:lnL w="12700" cmpd="sng">
                      <a:solidFill>
                        <a:srgbClr val="D6DEE6"/>
                      </a:solidFill>
                      <a:prstDash val="solid"/>
                    </a:lnL>
                    <a:lnR w="12700" cmpd="sng">
                      <a:solidFill>
                        <a:srgbClr val="D6DEE6"/>
                      </a:solidFill>
                      <a:prstDash val="solid"/>
                    </a:lnR>
                    <a:lnT w="12700" cmpd="sng">
                      <a:solidFill>
                        <a:srgbClr val="D6DEE6"/>
                      </a:solidFill>
                      <a:prstDash val="solid"/>
                    </a:lnT>
                    <a:lnB w="12700" cmpd="sng">
                      <a:solidFill>
                        <a:srgbClr val="D6DEE6"/>
                      </a:solidFill>
                      <a:prstDash val="solid"/>
                    </a:lnB>
                  </a:tcPr>
                </a:tc>
                <a:tc>
                  <a:txBody>
                    <a:bodyPr/>
                    <a:lstStyle/>
                    <a:p>
                      <a:r>
                        <a:rPr sz="1200" b="0">
                          <a:solidFill>
                            <a:srgbClr val="1A1A1A"/>
                          </a:solidFill>
                        </a:rPr>
                        <a:t>All</a:t>
                      </a:r>
                    </a:p>
                  </a:txBody>
                  <a:tcPr marL="91440" marR="91440" marT="45720" marB="45720">
                    <a:lnL w="12700" cmpd="sng">
                      <a:solidFill>
                        <a:srgbClr val="D6DEE6"/>
                      </a:solidFill>
                      <a:prstDash val="solid"/>
                    </a:lnL>
                    <a:lnR w="12700" cmpd="sng">
                      <a:solidFill>
                        <a:srgbClr val="D6DEE6"/>
                      </a:solidFill>
                      <a:prstDash val="solid"/>
                    </a:lnR>
                    <a:lnT w="12700" cmpd="sng">
                      <a:solidFill>
                        <a:srgbClr val="D6DEE6"/>
                      </a:solidFill>
                      <a:prstDash val="solid"/>
                    </a:lnT>
                    <a:lnB w="12700" cmpd="sng">
                      <a:solidFill>
                        <a:srgbClr val="D6DEE6"/>
                      </a:solidFill>
                      <a:prstDash val="solid"/>
                    </a:lnB>
                  </a:tcPr>
                </a:tc>
                <a:tc>
                  <a:txBody>
                    <a:bodyPr/>
                    <a:lstStyle/>
                    <a:p>
                      <a:r>
                        <a:rPr sz="1200" b="0">
                          <a:solidFill>
                            <a:srgbClr val="1A1A1A"/>
                          </a:solidFill>
                        </a:rPr>
                        <a:t>Schedule check</a:t>
                      </a:r>
                    </a:p>
                  </a:txBody>
                  <a:tcPr marL="91440" marR="91440" marT="45720" marB="45720">
                    <a:lnL w="12700" cmpd="sng">
                      <a:solidFill>
                        <a:srgbClr val="D6DEE6"/>
                      </a:solidFill>
                      <a:prstDash val="solid"/>
                    </a:lnL>
                    <a:lnR w="12700" cmpd="sng">
                      <a:solidFill>
                        <a:srgbClr val="D6DEE6"/>
                      </a:solidFill>
                      <a:prstDash val="solid"/>
                    </a:lnR>
                    <a:lnT w="12700" cmpd="sng">
                      <a:solidFill>
                        <a:srgbClr val="D6DEE6"/>
                      </a:solidFill>
                      <a:prstDash val="solid"/>
                    </a:lnT>
                    <a:lnB w="12700" cmpd="sng">
                      <a:solidFill>
                        <a:srgbClr val="D6DEE6"/>
                      </a:solidFill>
                      <a:prstDash val="solid"/>
                    </a:lnB>
                  </a:tcPr>
                </a:tc>
              </a:tr>
            </a:tbl>
          </a:graphicData>
        </a:graphic>
      </p:graphicFrame>
      <p:sp>
        <p:nvSpPr>
          <p:cNvPr id="9" name="Text 6">
            <a:extLst xmlns:a="http://schemas.openxmlformats.org/drawingml/2006/main">
              <a:ext uri="{FF2B5EF4-FFF2-40B4-BE49-F238E27FC236}">
                <a16:creationId xmlns:a16="http://schemas.microsoft.com/office/drawing/2014/main" id="{161A41F5-EE5C-4211-9315-F464AD6BD1B3}"/>
              </a:ext>
            </a:extLst>
          </p:cNvPr>
          <p:cNvSpPr>
            <a:spLocks xmlns:a="http://schemas.openxmlformats.org/drawingml/2006/main" noGrp="1"/>
          </p:cNvSpPr>
          <p:nvPr/>
        </p:nvSpPr>
        <p:spPr>
          <a:xfrm xmlns:a="http://schemas.openxmlformats.org/drawingml/2006/main">
            <a:off x="457200" y="6446520"/>
            <a:ext cx="7315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000">
                <a:solidFill>
                  <a:srgbClr val="5A6672"/>
                </a:solidFill>
                <a:latin typeface="Calibri"/>
                <a:ea typeface="Calibri"/>
                <a:cs typeface="Calibri"/>
              </a:rPr>
              <a:t>COE444 Computer Security  |  Progress Presentation Template</a:t>
            </a:r>
            <a:endParaRPr sz="1000"/>
          </a:p>
        </p:txBody>
      </p:sp>
      <p:sp>
        <p:nvSpPr>
          <p:cNvPr id="10" name="Text 7">
            <a:extLst xmlns:a="http://schemas.openxmlformats.org/drawingml/2006/main">
              <a:ext uri="{FF2B5EF4-FFF2-40B4-BE49-F238E27FC236}">
                <a16:creationId xmlns:a16="http://schemas.microsoft.com/office/drawing/2014/main" id="{8A278287-506E-436D-806A-1B0F1BB89759}"/>
              </a:ext>
            </a:extLst>
          </p:cNvPr>
          <p:cNvSpPr>
            <a:spLocks xmlns:a="http://schemas.openxmlformats.org/drawingml/2006/main" noGrp="1"/>
          </p:cNvSpPr>
          <p:nvPr/>
        </p:nvSpPr>
        <p:spPr>
          <a:xfrm xmlns:a="http://schemas.openxmlformats.org/drawingml/2006/main">
            <a:off x="11277295" y="6446520"/>
            <a:ext cx="457200" cy="27432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lgn="r">
              <a:buNone/>
            </a:pPr>
            <a:r>
              <a:rPr sz="1000">
                <a:solidFill>
                  <a:srgbClr val="5A6672"/>
                </a:solidFill>
                <a:latin typeface="Calibri"/>
                <a:ea typeface="Calibri"/>
                <a:cs typeface="Calibri"/>
              </a:rPr>
              <a:t>5</a:t>
            </a:r>
            <a:endParaRPr sz="1000"/>
          </a:p>
        </p:txBody>
      </p:sp>
      <p:sp>
        <p:nvSpPr>
          <p:cNvPr id="12" name="">
            <a:extLst xmlns:a="http://schemas.openxmlformats.org/drawingml/2006/main">
              <a:ext uri="{FF2B5EF4-FFF2-40B4-BE49-F238E27FC236}">
                <a16:creationId xmlns:a16="http://schemas.microsoft.com/office/drawing/2014/main" id="{BBCBEAF6-ED29-40F7-AF39-9F66A0BF5193}"/>
              </a:ext>
            </a:extLst>
          </p:cNvPr>
          <p:cNvSpPr>
            <a:spLocks xmlns:a="http://schemas.openxmlformats.org/drawingml/2006/main" noGrp="1"/>
          </p:cNvSpPr>
          <p:nvPr/>
        </p:nvSpPr>
        <p:spPr>
          <a:xfrm xmlns:a="http://schemas.openxmlformats.org/drawingml/2006/main">
            <a:off x="960120" y="2009775"/>
            <a:ext cx="10271474"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a:solidFill>
                  <a:srgbClr val="1A1A1A"/>
                </a:solidFill>
              </a:defRPr>
            </a:defPPr>
            <a:lvl1pPr>
              <a:defRPr sz="1575">
                <a:solidFill>
                  <a:srgbClr val="1A1A1A"/>
                </a:solidFill>
              </a:defRPr>
            </a:lvl1pPr>
            <a:lvl2pPr>
              <a:defRPr sz="1575">
                <a:solidFill>
                  <a:srgbClr val="1A1A1A"/>
                </a:solidFill>
              </a:defRPr>
            </a:lvl2pPr>
            <a:lvl3pPr>
              <a:defRPr sz="1575">
                <a:solidFill>
                  <a:srgbClr val="1A1A1A"/>
                </a:solidFill>
              </a:defRPr>
            </a:lvl3pPr>
            <a:lvl4pPr>
              <a:defRPr sz="1575">
                <a:solidFill>
                  <a:srgbClr val="1A1A1A"/>
                </a:solidFill>
              </a:defRPr>
            </a:lvl4pPr>
            <a:lvl5pPr>
              <a:defRPr sz="1575">
                <a:solidFill>
                  <a:srgbClr val="1A1A1A"/>
                </a:solidFill>
              </a:defRPr>
            </a:lvl5pPr>
            <a:lvl6pPr>
              <a:defRPr sz="1575">
                <a:solidFill>
                  <a:srgbClr val="1A1A1A"/>
                </a:solidFill>
              </a:defRPr>
            </a:lvl6pPr>
            <a:lvl7pPr>
              <a:defRPr sz="1575">
                <a:solidFill>
                  <a:srgbClr val="1A1A1A"/>
                </a:solidFill>
              </a:defRPr>
            </a:lvl7pPr>
            <a:lvl8pPr>
              <a:defRPr sz="1575">
                <a:solidFill>
                  <a:srgbClr val="1A1A1A"/>
                </a:solidFill>
              </a:defRPr>
            </a:lvl8pPr>
            <a:lvl9pPr>
              <a:defRPr sz="1575">
                <a:solidFill>
                  <a:srgbClr val="1A1A1A"/>
                </a:solidFill>
              </a:defRPr>
            </a:lvl9pPr>
          </a:lstStyle>
          <a:p xmlns:a="http://schemas.openxmlformats.org/drawingml/2006/main">
            <a:pPr>
              <a:defRPr sz="1575">
                <a:solidFill>
                  <a:srgbClr val="1A1A1A"/>
                </a:solidFill>
              </a:defRPr>
            </a:pPr>
            <a:r>
              <a:rPr sz="1575">
                <a:solidFill>
                  <a:srgbClr val="1A1A1A"/>
                </a:solidFill>
              </a:rPr>
              <a:t>Core prototype and preliminary experiments are complete. Added on October 21:</a:t>
            </a:r>
          </a:p>
          <a:p xmlns:a="http://schemas.openxmlformats.org/drawingml/2006/main">
            <a:pPr>
              <a:defRPr sz="1575">
                <a:solidFill>
                  <a:srgbClr val="1A1A1A"/>
                </a:solidFill>
              </a:defRPr>
            </a:pPr>
            <a:r>
              <a:rPr sz="1575">
                <a:solidFill>
                  <a:srgbClr val="1A1A1A"/>
                </a:solidFill>
              </a:rPr>
              <a:t>real review of protected emails, a retrieval startup fix and regression checks.</a:t>
            </a:r>
          </a:p>
        </p:txBody>
      </p:sp>
      <p:sp>
        <p:nvSpPr>
          <p:cNvPr id="13" name="">
            <a:extLst xmlns:a="http://schemas.openxmlformats.org/drawingml/2006/main">
              <a:ext uri="{FF2B5EF4-FFF2-40B4-BE49-F238E27FC236}">
                <a16:creationId xmlns:a16="http://schemas.microsoft.com/office/drawing/2014/main" id="{4AE02CDF-4E25-45C7-88B2-9CD8EE645E69}"/>
              </a:ext>
            </a:extLst>
          </p:cNvPr>
          <p:cNvSpPr>
            <a:spLocks xmlns:a="http://schemas.openxmlformats.org/drawingml/2006/main" noGrp="1"/>
          </p:cNvSpPr>
          <p:nvPr/>
        </p:nvSpPr>
        <p:spPr>
          <a:xfrm xmlns:a="http://schemas.openxmlformats.org/drawingml/2006/main">
            <a:off x="960120" y="2771775"/>
            <a:ext cx="10271474"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75">
                <a:solidFill>
                  <a:srgbClr val="1A1A1A"/>
                </a:solidFill>
              </a:defRPr>
            </a:defPPr>
            <a:lvl1pPr>
              <a:defRPr sz="1575">
                <a:solidFill>
                  <a:srgbClr val="1A1A1A"/>
                </a:solidFill>
              </a:defRPr>
            </a:lvl1pPr>
            <a:lvl2pPr>
              <a:defRPr sz="1575">
                <a:solidFill>
                  <a:srgbClr val="1A1A1A"/>
                </a:solidFill>
              </a:defRPr>
            </a:lvl2pPr>
            <a:lvl3pPr>
              <a:defRPr sz="1575">
                <a:solidFill>
                  <a:srgbClr val="1A1A1A"/>
                </a:solidFill>
              </a:defRPr>
            </a:lvl3pPr>
            <a:lvl4pPr>
              <a:defRPr sz="1575">
                <a:solidFill>
                  <a:srgbClr val="1A1A1A"/>
                </a:solidFill>
              </a:defRPr>
            </a:lvl4pPr>
            <a:lvl5pPr>
              <a:defRPr sz="1575">
                <a:solidFill>
                  <a:srgbClr val="1A1A1A"/>
                </a:solidFill>
              </a:defRPr>
            </a:lvl5pPr>
            <a:lvl6pPr>
              <a:defRPr sz="1575">
                <a:solidFill>
                  <a:srgbClr val="1A1A1A"/>
                </a:solidFill>
              </a:defRPr>
            </a:lvl6pPr>
            <a:lvl7pPr>
              <a:defRPr sz="1575">
                <a:solidFill>
                  <a:srgbClr val="1A1A1A"/>
                </a:solidFill>
              </a:defRPr>
            </a:lvl7pPr>
            <a:lvl8pPr>
              <a:defRPr sz="1575">
                <a:solidFill>
                  <a:srgbClr val="1A1A1A"/>
                </a:solidFill>
              </a:defRPr>
            </a:lvl8pPr>
            <a:lvl9pPr>
              <a:defRPr sz="1575">
                <a:solidFill>
                  <a:srgbClr val="1A1A1A"/>
                </a:solidFill>
              </a:defRPr>
            </a:lvl9pPr>
          </a:lstStyle>
          <a:p xmlns:a="http://schemas.openxmlformats.org/drawingml/2006/main">
            <a:pPr>
              <a:defRPr sz="1575">
                <a:solidFill>
                  <a:srgbClr val="1A1A1A"/>
                </a:solidFill>
              </a:defRPr>
            </a:pPr>
            <a:r>
              <a:rPr sz="1575">
                <a:solidFill>
                  <a:srgbClr val="1A1A1A"/>
                </a:solidFill>
              </a:rPr>
              <a:t>Remaining: verify hosted APIs, rehearse the live demo and run the frozen final evaluation.</a:t>
            </a:r>
          </a:p>
          <a:p xmlns:a="http://schemas.openxmlformats.org/drawingml/2006/main">
            <a:pPr>
              <a:defRPr sz="1575">
                <a:solidFill>
                  <a:srgbClr val="1A1A1A"/>
                </a:solidFill>
              </a:defRPr>
            </a:pPr>
            <a:r>
              <a:rPr sz="1575">
                <a:solidFill>
                  <a:srgbClr val="1A1A1A"/>
                </a:solidFill>
              </a:rPr>
              <a:t>Future dates are proposed team targets, pending the confirmed class schedule.</a:t>
            </a:r>
          </a:p>
        </p:txBody>
      </p:sp>
    </p:spTree>
    <p:extLst>
      <p:ext uri="{BB962C8B-B14F-4D97-AF65-F5344CB8AC3E}">
        <p14:creationId xmlns:p14="http://schemas.microsoft.com/office/powerpoint/2010/main" val="1214647066"/>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2026-10-21T10:35:53.0480000Z</dcterms:created>
  <dcterms:modified xsi:type="dcterms:W3CDTF">2026-10-21T10:35:53.0490000Z</dcterms:modified>
</coreProperties>
</file>