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d9935a1be0411f" /><Relationship Type="http://schemas.openxmlformats.org/officeDocument/2006/relationships/extended-properties" Target="/docProps/app.xml" Id="R5c70db8f875e43aa" /><Relationship Type="http://schemas.openxmlformats.org/officeDocument/2006/relationships/officeDocument" Target="/ppt/presentation.xml" Id="Re095eeb57b6f4cfb" /></Relationships>
</file>

<file path=ppt/presentation.xml><?xml version="1.0" encoding="utf-8"?>
<p:presentation xmlns:p="http://schemas.openxmlformats.org/presentationml/2006/main">
  <p:sldMasterIdLst>
    <p:sldMasterId xmlns:r="http://schemas.openxmlformats.org/officeDocument/2006/relationships" id="2147483648" r:id="R70a378df7ac0475f"/>
  </p:sldMasterIdLst>
  <p:notesMasterIdLst>
    <p:notesMasterId xmlns:r="http://schemas.openxmlformats.org/officeDocument/2006/relationships" r:id="R137275f153734463"/>
  </p:notesMasterIdLst>
  <p:sldIdLst>
    <p:sldId xmlns:r="http://schemas.openxmlformats.org/officeDocument/2006/relationships" id="256" r:id="R265ce9279d544879"/>
    <p:sldId xmlns:r="http://schemas.openxmlformats.org/officeDocument/2006/relationships" id="257" r:id="Rd1ad5be034e0444e"/>
    <p:sldId xmlns:r="http://schemas.openxmlformats.org/officeDocument/2006/relationships" id="258" r:id="R9d2bd871a43a431b"/>
    <p:sldId xmlns:r="http://schemas.openxmlformats.org/officeDocument/2006/relationships" id="259" r:id="R5fa22e7c034b4551"/>
    <p:sldId xmlns:r="http://schemas.openxmlformats.org/officeDocument/2006/relationships" id="260" r:id="R40b46a9352754f2e"/>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70adc593bba4c20" /><Relationship Type="http://schemas.openxmlformats.org/officeDocument/2006/relationships/slideMaster" Target="/ppt/slideMasters/slideMaster1.xml" Id="R70a378df7ac0475f" /><Relationship Type="http://schemas.openxmlformats.org/officeDocument/2006/relationships/notesMaster" Target="/ppt/notesMasters/notesMaster1.xml" Id="R137275f153734463" /><Relationship Type="http://schemas.openxmlformats.org/officeDocument/2006/relationships/presProps" Target="/ppt/presProps.xml" Id="R4ed20c62ad7e4096" /><Relationship Type="http://schemas.openxmlformats.org/officeDocument/2006/relationships/viewProps" Target="/ppt/viewProps.xml" Id="R9dfe356a8aeb40e8" /><Relationship Type="http://schemas.openxmlformats.org/officeDocument/2006/relationships/tableStyles" Target="/ppt/tableStyles.xml" Id="R1e6763bb58534543" /><Relationship Type="http://schemas.openxmlformats.org/officeDocument/2006/relationships/slide" Target="/ppt/slides/slide1.xml" Id="R265ce9279d544879" /><Relationship Type="http://schemas.openxmlformats.org/officeDocument/2006/relationships/slide" Target="/ppt/slides/slide2.xml" Id="Rd1ad5be034e0444e" /><Relationship Type="http://schemas.openxmlformats.org/officeDocument/2006/relationships/slide" Target="/ppt/slides/slide3.xml" Id="R9d2bd871a43a431b" /><Relationship Type="http://schemas.openxmlformats.org/officeDocument/2006/relationships/slide" Target="/ppt/slides/slide4.xml" Id="R5fa22e7c034b4551" /><Relationship Type="http://schemas.openxmlformats.org/officeDocument/2006/relationships/slide" Target="/ppt/slides/slide5.xml" Id="R40b46a9352754f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e0509df066434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c7fab90455147ad" /><Relationship Type="http://schemas.openxmlformats.org/officeDocument/2006/relationships/notesMaster" Target="/ppt/notesMasters/notesMaster1.xml" Id="R8f3648ec9b024a6d" /></Relationships>
</file>

<file path=ppt/notesSlides/_rels/notesSlide2.xml.rels>&#65279;<?xml version="1.0" encoding="utf-8"?><Relationships xmlns="http://schemas.openxmlformats.org/package/2006/relationships"><Relationship Type="http://schemas.openxmlformats.org/officeDocument/2006/relationships/slide" Target="/ppt/slides/slide2.xml" Id="R7ae0559db644409a" /><Relationship Type="http://schemas.openxmlformats.org/officeDocument/2006/relationships/notesMaster" Target="/ppt/notesMasters/notesMaster1.xml" Id="R9ed66b86ef1047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fe9cd5dfcf4a84" /><Relationship Type="http://schemas.openxmlformats.org/officeDocument/2006/relationships/notesMaster" Target="/ppt/notesMasters/notesMaster1.xml" Id="R760c24d92940429b" /></Relationships>
</file>

<file path=ppt/notesSlides/_rels/notesSlide4.xml.rels>&#65279;<?xml version="1.0" encoding="utf-8"?><Relationships xmlns="http://schemas.openxmlformats.org/package/2006/relationships"><Relationship Type="http://schemas.openxmlformats.org/officeDocument/2006/relationships/slide" Target="/ppt/slides/slide4.xml" Id="Ra351ff425cb942a2" /><Relationship Type="http://schemas.openxmlformats.org/officeDocument/2006/relationships/notesMaster" Target="/ppt/notesMasters/notesMaster1.xml" Id="R1ef0ea22ca714f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2ebffc67c4524c42" /><Relationship Type="http://schemas.openxmlformats.org/officeDocument/2006/relationships/notesMaster" Target="/ppt/notesMasters/notesMaster1.xml" Id="R2389a35a2cd94c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 names come from the proposal. This deck has one speaking part per slide. Choose the speaker names before presenting. October 2026 is the report month. The exact presentation date is not yet confirmed. Progress review prepared October 21, 2026. Exact presentation date next week remains to be confirmed. Team names copied from COE444_Proposal_Final.pptx. Presenter allocations follow the existing progress deck and should be confirmed by the team.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model chooses tool calls, reads results and chooses its next step, up to six model turns. This is bounded autonomy. An attacker can insert instructions into retrieved text. The original recipient gate checks source, not full user intent. Live approval adds human supervision for the final protected send. Web is deferred, and the detector uses an existing hosted model without training. Sources: COE444_Proposal_Final.pptx slides 2–5; agent/tools.py; defense/detection.py; defense/prevention.py; METHODOLOGY.md. The code implements inference using a hosted model, not fine-tuning. Original web scope was explicitly first to cut. Four conditions are offline policies on shared trajectories. Byte provenance establishes source, not user intent. The original gate-v1 policy is unchanged for research comparability; protected live mailbox sends now also require explicit review. That adds a user interaction and is outside the old scoring protocol.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 ORIGIN: We found Microsoft LLMail-Inject on Hugging Face: https://huggingface.co/datasets/microsoft/llmail-inject-challenge . It is MIT licensed. Our converter selected and adapted 200 originally successful attacks, placing email subject/body in a policy excerpt and rewriting ordinary addresses to reserved test domains where the rule applies. Source revision 1063bdf01ec8762b812d5e06ee768a06faa5a6f7. Our task, model and scoring differ, so results cannot be compared directly with the original challenge. Separately, the project has 23 custom attacks, 14 custom normal tasks and fictional company documents/contacts. The 10 custom development attacks form this table. Thirteen custom attacks remain held out. The 200 external attacks are inventory, not 200 completed experiments. Fifty have saved agent runs, with two errors. The detector check also uses 203 clean emails from the dataset. A dataset supplies examples. A log records our own runs and provides our results. Software checks mostly use scripted model responses. Source: logs/run-20261013T100754Z.jsonl, independently rescored October 21. 51 records = (10 attack payloads + 7 benign tasks) x 3 trials. Rates collapse trials by payload/task majority with ties against defense. A 6/10, B 1/10, C 3/10, D 1/10. Historical software check count was 246. After ten added regression cases, the combined suite has 256 passing checks, including all 61 original defense specifications. Inventory: attacks/payloads.json has 10 dev + 13 test = 23 custom attacks; attacks/external_llmail.json has 200 external attacks. Total 223 stored. Only ten custom attacks form this table, to keep 13 custom examples held out. Fifty external attacks have a separate saved agent run; the remaining 150 external examples are not in that saved evaluation. These counts are not interchangeable. 7/7 is a task-level majority, not every trial. Development ASR 95% Wilson intervals: A 31.3–83.2%, B/D 1.8–40.4%, C 10.8–60.3%. Benign completion interval 64.6–100%. All 240 detector judgments in the dev log are cached. Same-family agent/detector is another limitation. Offline replay is preliminary evidence pending live validation. New config.py defaults OMP_NUM_THREADS to 1; local real retrieval passed. New explicit-review live flow passed deterministic tests and browser approve/reject checks with scripted model responses. No fresh hosted-model sweep ran. Source log: logs/run-20261013T100754Z.jsonl. Total 51 agent trajectories, 204 offline policy outcomes, not 204 independent agent runs.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Speaking explanation: We want useful agent work with fewer attacker-directed actions. The main combined result is 10%, so the below-5% target remains unmet. Detection and combined defenses tie in this small sample. Our final demo and held-out evaluation remain planned. The extra live approval means a person authorizes the protected send. The proposal also targets detector misses below 20% and false alarms below 15%. The separate detector sample had 3/50 misses and 0/203 false alarms. Keep external and custom results separate. Sources: logs/detector-external-20261012T215514Z.jsonl; results/detector_outofsample.md; results/progress_summary.md. Out-of-sample miss-rate Wilson interval 2.1–16.2%, false-alarm interval 0–1.9%. These are excerpt-classification results, not end-to-end attack success. PI-040 remains successful under both defenses because aborting the request meets its denial-of-service objective. Gate alone does not cover body or reply-channel leakage. Existing LLMail prevention evidence 0/48 excludes two agent errors; upper Wilson bound 7.4% exceeds 5%. Do not claim final combined goal achieved. Demo PI-101 trial 1: gate removes wfc@nw-partner.invalid, keeps hr@northwind.example. Attribution does not prove intent. Added live review requires user approval outside the tool surface, using exact server-stored draft bytes. Regression probes cover injected directory lookups, address mentions, tampering, replay, reject/reset and retries. This does not make gate-v1 an intent validator and does not demonstrate autonomous protection. Source of external agent figures: logs/run-20261012T202019Z.jsonl; its detector was a stub and only A/C are meaningful. Two errors excluded from 48 valid runs. No claim that all 200 external attacks were evaluated.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timeline uses collective team ownership because detailed task allocations need team confirmation. Asterisk: November 11 is a proposed team target. The guidelines say Week 14, so confirm the exact official date. Core implementation is done, while fresh hosted-model validation, the full rehearsal and final held-out testing are pending. Sources: proposal timeline; repository state October 21; existing TEAM-PLAN.md and progress deck. Proposed recovery plan is a recommendation, not a record of work assigned or completed. Corpus has 23 custom payloads and external LLMail records. Do not assert all original milestones are fully done: custom count and training scope changed, and no held-out confirmatory run exists. Keep the held-out split unopened while tuning. Final guidelines say Week 14, while the proposal targets November 11; verify the actual course date. Added runtime default and explicit live review are locally tested. Hosted API verification and evaluation of the new live behavior are still pending. Avoid prioritizing Gmail or extra defenses before validation. Keep old logs and held-out split unchanged.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2753590d882449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cb009bcdf2d4d30" /><Relationship Type="http://schemas.openxmlformats.org/officeDocument/2006/relationships/slideLayout" Target="/ppt/slideLayouts/slideLayout1.xml" Id="Rce72ea840a2147c5"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72ea840a2147c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80e6707a831439d" /><Relationship Type="http://schemas.openxmlformats.org/officeDocument/2006/relationships/notesSlide" Target="/ppt/notesSlides/notesSlide1.xml" Id="R63f00b33cbd54b3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434a46c73cb4856" /><Relationship Type="http://schemas.openxmlformats.org/officeDocument/2006/relationships/notesSlide" Target="/ppt/notesSlides/notesSlide2.xml" Id="Ra484480cd0c74ef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a07b31809544aec" /><Relationship Type="http://schemas.openxmlformats.org/officeDocument/2006/relationships/notesSlide" Target="/ppt/notesSlides/notesSlide3.xml" Id="R9d5638e7c7e84ee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23b2e11c6ce425f" /><Relationship Type="http://schemas.openxmlformats.org/officeDocument/2006/relationships/notesSlide" Target="/ppt/notesSlides/notesSlide4.xml" Id="R500ede9ed08c46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faea6c077244ea3" /><Relationship Type="http://schemas.openxmlformats.org/officeDocument/2006/relationships/notesSlide" Target="/ppt/notesSlides/notesSlide5.xml" Id="Rc8ce737eb77e425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DF8400B6-0449-459F-BF07-73AD8ED86F34}"/>
              </a:ext>
            </a:extLst>
          </p:cNvPr>
          <p:cNvSpPr>
            <a:spLocks xmlns:a="http://schemas.openxmlformats.org/drawingml/2006/main" noGrp="1"/>
          </p:cNvSpPr>
          <p:nvPr/>
        </p:nvSpPr>
        <p:spPr>
          <a:xfrm xmlns:a="http://schemas.openxmlformats.org/drawingml/2006/main">
            <a:off x="0" y="0"/>
            <a:ext cx="12191695" cy="2377440"/>
          </a:xfrm>
          <a:prstGeom xmlns:a="http://schemas.openxmlformats.org/drawingml/2006/main" prst="rect">
            <a:avLst/>
          </a:prstGeom>
          <a:solidFill xmlns:a="http://schemas.openxmlformats.org/drawingml/2006/main">
            <a:srgbClr val="14375E"/>
          </a:solidFill>
        </p:spPr>
      </p:sp>
      <p:sp>
        <p:nvSpPr>
          <p:cNvPr id="3" name="Text 1">
            <a:extLst xmlns:a="http://schemas.openxmlformats.org/drawingml/2006/main">
              <a:ext uri="{FF2B5EF4-FFF2-40B4-BE49-F238E27FC236}">
                <a16:creationId xmlns:a16="http://schemas.microsoft.com/office/drawing/2014/main" id="{89AEE735-7A03-49D0-B26A-49FFDA591D58}"/>
              </a:ext>
            </a:extLst>
          </p:cNvPr>
          <p:cNvSpPr>
            <a:spLocks xmlns:a="http://schemas.openxmlformats.org/drawingml/2006/main" noGrp="1"/>
          </p:cNvSpPr>
          <p:nvPr/>
        </p:nvSpPr>
        <p:spPr>
          <a:xfrm xmlns:a="http://schemas.openxmlformats.org/drawingml/2006/main">
            <a:off x="731520" y="685800"/>
            <a:ext cx="1072865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defRPr sz="2925" b="1">
                <a:solidFill>
                  <a:srgbClr val="FFFFFF"/>
                </a:solidFill>
              </a:defRPr>
            </a:defPPr>
            <a:lvl1pPr>
              <a:defRPr sz="2925" b="1">
                <a:solidFill>
                  <a:srgbClr val="FFFFFF"/>
                </a:solidFill>
              </a:defRPr>
            </a:lvl1pPr>
            <a:lvl2pPr>
              <a:defRPr sz="2925" b="1">
                <a:solidFill>
                  <a:srgbClr val="FFFFFF"/>
                </a:solidFill>
              </a:defRPr>
            </a:lvl2pPr>
            <a:lvl3pPr>
              <a:defRPr sz="2925" b="1">
                <a:solidFill>
                  <a:srgbClr val="FFFFFF"/>
                </a:solidFill>
              </a:defRPr>
            </a:lvl3pPr>
            <a:lvl4pPr>
              <a:defRPr sz="2925" b="1">
                <a:solidFill>
                  <a:srgbClr val="FFFFFF"/>
                </a:solidFill>
              </a:defRPr>
            </a:lvl4pPr>
            <a:lvl5pPr>
              <a:defRPr sz="2925" b="1">
                <a:solidFill>
                  <a:srgbClr val="FFFFFF"/>
                </a:solidFill>
              </a:defRPr>
            </a:lvl5pPr>
            <a:lvl6pPr>
              <a:defRPr sz="2925" b="1">
                <a:solidFill>
                  <a:srgbClr val="FFFFFF"/>
                </a:solidFill>
              </a:defRPr>
            </a:lvl6pPr>
            <a:lvl7pPr>
              <a:defRPr sz="2925" b="1">
                <a:solidFill>
                  <a:srgbClr val="FFFFFF"/>
                </a:solidFill>
              </a:defRPr>
            </a:lvl7pPr>
            <a:lvl8pPr>
              <a:defRPr sz="2925" b="1">
                <a:solidFill>
                  <a:srgbClr val="FFFFFF"/>
                </a:solidFill>
              </a:defRPr>
            </a:lvl8pPr>
            <a:lvl9pPr>
              <a:defRPr sz="2925" b="1">
                <a:solidFill>
                  <a:srgbClr val="FFFFFF"/>
                </a:solidFill>
              </a:defRPr>
            </a:lvl9pPr>
          </a:lstStyle>
          <a:p xmlns:a="http://schemas.openxmlformats.org/drawingml/2006/main">
            <a:pPr marL="0" indent="0">
              <a:buNone/>
              <a:defRPr sz="2925" b="1">
                <a:solidFill>
                  <a:srgbClr val="FFFFFF"/>
                </a:solidFill>
              </a:defRPr>
            </a:pPr>
            <a:r>
              <a:rPr sz="2925" b="1">
                <a:solidFill>
                  <a:srgbClr val="FFFFFF"/>
                </a:solidFill>
                <a:latin typeface="Calibri"/>
                <a:ea typeface="Calibri"/>
                <a:cs typeface="Calibri"/>
              </a:rPr>
              <a:t>Prompt Injection Detection &amp; Prevention</a:t>
            </a:r>
            <a:endParaRPr sz="3400"/>
          </a:p>
          <a:p xmlns:a="http://schemas.openxmlformats.org/drawingml/2006/main">
            <a:pPr marL="0" indent="0">
              <a:buNone/>
              <a:defRPr sz="2925" b="1">
                <a:solidFill>
                  <a:srgbClr val="FFFFFF"/>
                </a:solidFill>
              </a:defRPr>
            </a:pPr>
            <a:r>
              <a:rPr sz="2925" b="1">
                <a:solidFill>
                  <a:srgbClr val="FFFFFF"/>
                </a:solidFill>
                <a:latin typeface="Calibri"/>
                <a:ea typeface="Calibri"/>
                <a:cs typeface="Calibri"/>
              </a:rPr>
              <a:t>for AI Agents</a:t>
            </a:r>
            <a:endParaRPr sz="3400"/>
          </a:p>
        </p:txBody>
      </p:sp>
      <p:sp>
        <p:nvSpPr>
          <p:cNvPr id="4" name="Text 2">
            <a:extLst xmlns:a="http://schemas.openxmlformats.org/drawingml/2006/main">
              <a:ext uri="{FF2B5EF4-FFF2-40B4-BE49-F238E27FC236}">
                <a16:creationId xmlns:a16="http://schemas.microsoft.com/office/drawing/2014/main" id="{B30EC614-F94D-4124-B781-AD66DC77CC96}"/>
              </a:ext>
            </a:extLst>
          </p:cNvPr>
          <p:cNvSpPr>
            <a:spLocks xmlns:a="http://schemas.openxmlformats.org/drawingml/2006/main" noGrp="1"/>
          </p:cNvSpPr>
          <p:nvPr/>
        </p:nvSpPr>
        <p:spPr>
          <a:xfrm xmlns:a="http://schemas.openxmlformats.org/drawingml/2006/main">
            <a:off x="731520" y="1809750"/>
            <a:ext cx="1072865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a:solidFill>
                  <a:srgbClr val="C9D6E3"/>
                </a:solidFill>
                <a:latin typeface="Calibri"/>
                <a:ea typeface="Calibri"/>
                <a:cs typeface="Calibri"/>
              </a:rPr>
              <a:t>Progress Presentation  ·  October 2026</a:t>
            </a:r>
            <a:endParaRPr sz="1800"/>
          </a:p>
        </p:txBody>
      </p:sp>
      <p:sp>
        <p:nvSpPr>
          <p:cNvPr id="5" name="Text 3">
            <a:extLst xmlns:a="http://schemas.openxmlformats.org/drawingml/2006/main">
              <a:ext uri="{FF2B5EF4-FFF2-40B4-BE49-F238E27FC236}">
                <a16:creationId xmlns:a16="http://schemas.microsoft.com/office/drawing/2014/main" id="{70FB2AF9-F8F1-441E-AD20-82781B3C2C66}"/>
              </a:ext>
            </a:extLst>
          </p:cNvPr>
          <p:cNvSpPr>
            <a:spLocks xmlns:a="http://schemas.openxmlformats.org/drawingml/2006/main" noGrp="1"/>
          </p:cNvSpPr>
          <p:nvPr/>
        </p:nvSpPr>
        <p:spPr>
          <a:xfrm xmlns:a="http://schemas.openxmlformats.org/drawingml/2006/main">
            <a:off x="731520" y="301752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TEAM NUMBER / NAME</a:t>
            </a:r>
            <a:endParaRPr sz="1100"/>
          </a:p>
        </p:txBody>
      </p:sp>
      <p:sp>
        <p:nvSpPr>
          <p:cNvPr id="6" name="Text 4">
            <a:extLst xmlns:a="http://schemas.openxmlformats.org/drawingml/2006/main">
              <a:ext uri="{FF2B5EF4-FFF2-40B4-BE49-F238E27FC236}">
                <a16:creationId xmlns:a16="http://schemas.microsoft.com/office/drawing/2014/main" id="{06A8F4B8-7874-477A-AE95-3E3120E7A762}"/>
              </a:ext>
            </a:extLst>
          </p:cNvPr>
          <p:cNvSpPr>
            <a:spLocks xmlns:a="http://schemas.openxmlformats.org/drawingml/2006/main" noGrp="1"/>
          </p:cNvSpPr>
          <p:nvPr/>
        </p:nvSpPr>
        <p:spPr>
          <a:xfrm xmlns:a="http://schemas.openxmlformats.org/drawingml/2006/main">
            <a:off x="3566160" y="301752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Prompt Injection Detection &amp; Prevention</a:t>
            </a:r>
            <a:endParaRPr sz="1400"/>
          </a:p>
        </p:txBody>
      </p:sp>
      <p:sp>
        <p:nvSpPr>
          <p:cNvPr id="7" name="Text 5">
            <a:extLst xmlns:a="http://schemas.openxmlformats.org/drawingml/2006/main">
              <a:ext uri="{FF2B5EF4-FFF2-40B4-BE49-F238E27FC236}">
                <a16:creationId xmlns:a16="http://schemas.microsoft.com/office/drawing/2014/main" id="{E8BE516D-1E92-41BF-8652-82AF03DD0B07}"/>
              </a:ext>
            </a:extLst>
          </p:cNvPr>
          <p:cNvSpPr>
            <a:spLocks xmlns:a="http://schemas.openxmlformats.org/drawingml/2006/main" noGrp="1"/>
          </p:cNvSpPr>
          <p:nvPr/>
        </p:nvSpPr>
        <p:spPr>
          <a:xfrm xmlns:a="http://schemas.openxmlformats.org/drawingml/2006/main">
            <a:off x="731520" y="352044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TEAM MEMBERS</a:t>
            </a:r>
            <a:endParaRPr sz="1100"/>
          </a:p>
        </p:txBody>
      </p:sp>
      <p:sp>
        <p:nvSpPr>
          <p:cNvPr id="8" name="Text 6">
            <a:extLst xmlns:a="http://schemas.openxmlformats.org/drawingml/2006/main">
              <a:ext uri="{FF2B5EF4-FFF2-40B4-BE49-F238E27FC236}">
                <a16:creationId xmlns:a16="http://schemas.microsoft.com/office/drawing/2014/main" id="{793A6A2C-679C-48AC-BF2A-F929590CE135}"/>
              </a:ext>
            </a:extLst>
          </p:cNvPr>
          <p:cNvSpPr>
            <a:spLocks xmlns:a="http://schemas.openxmlformats.org/drawingml/2006/main" noGrp="1"/>
          </p:cNvSpPr>
          <p:nvPr/>
        </p:nvSpPr>
        <p:spPr>
          <a:xfrm xmlns:a="http://schemas.openxmlformats.org/drawingml/2006/main">
            <a:off x="3566160" y="3400425"/>
            <a:ext cx="6858000" cy="47625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defRPr sz="1350">
                <a:solidFill>
                  <a:srgbClr val="1A1A1A"/>
                </a:solidFill>
              </a:defRPr>
            </a:defPPr>
            <a:lvl1pPr>
              <a:defRPr sz="1350">
                <a:solidFill>
                  <a:srgbClr val="1A1A1A"/>
                </a:solidFill>
              </a:defRPr>
            </a:lvl1pPr>
            <a:lvl2pPr>
              <a:defRPr sz="1350">
                <a:solidFill>
                  <a:srgbClr val="1A1A1A"/>
                </a:solidFill>
              </a:defRPr>
            </a:lvl2pPr>
            <a:lvl3pPr>
              <a:defRPr sz="1350">
                <a:solidFill>
                  <a:srgbClr val="1A1A1A"/>
                </a:solidFill>
              </a:defRPr>
            </a:lvl3pPr>
            <a:lvl4pPr>
              <a:defRPr sz="1350">
                <a:solidFill>
                  <a:srgbClr val="1A1A1A"/>
                </a:solidFill>
              </a:defRPr>
            </a:lvl4pPr>
            <a:lvl5pPr>
              <a:defRPr sz="1350">
                <a:solidFill>
                  <a:srgbClr val="1A1A1A"/>
                </a:solidFill>
              </a:defRPr>
            </a:lvl5pPr>
            <a:lvl6pPr>
              <a:defRPr sz="1350">
                <a:solidFill>
                  <a:srgbClr val="1A1A1A"/>
                </a:solidFill>
              </a:defRPr>
            </a:lvl6pPr>
            <a:lvl7pPr>
              <a:defRPr sz="1350">
                <a:solidFill>
                  <a:srgbClr val="1A1A1A"/>
                </a:solidFill>
              </a:defRPr>
            </a:lvl7pPr>
            <a:lvl8pPr>
              <a:defRPr sz="1350">
                <a:solidFill>
                  <a:srgbClr val="1A1A1A"/>
                </a:solidFill>
              </a:defRPr>
            </a:lvl8pPr>
            <a:lvl9pPr>
              <a:defRPr sz="1350">
                <a:solidFill>
                  <a:srgbClr val="1A1A1A"/>
                </a:solidFill>
              </a:defRPr>
            </a:lvl9pPr>
          </a:lstStyle>
          <a:p xmlns:a="http://schemas.openxmlformats.org/drawingml/2006/main">
            <a:pPr marL="0" indent="0">
              <a:buNone/>
              <a:defRPr sz="1350">
                <a:solidFill>
                  <a:srgbClr val="1A1A1A"/>
                </a:solidFill>
              </a:defRPr>
            </a:pPr>
            <a:r>
              <a:rPr sz="1350">
                <a:solidFill>
                  <a:srgbClr val="1A1A1A"/>
                </a:solidFill>
                <a:latin typeface="Calibri"/>
                <a:ea typeface="Calibri"/>
                <a:cs typeface="Calibri"/>
              </a:rPr>
              <a:t>Marawan Abdalla, Youssef Abdelmoneim, Hamza Alcharif,</a:t>
            </a:r>
            <a:endParaRPr sz="1400"/>
          </a:p>
          <a:p xmlns:a="http://schemas.openxmlformats.org/drawingml/2006/main">
            <a:pPr marL="0" indent="0">
              <a:buNone/>
              <a:defRPr sz="1350">
                <a:solidFill>
                  <a:srgbClr val="1A1A1A"/>
                </a:solidFill>
              </a:defRPr>
            </a:pPr>
            <a:r>
              <a:rPr sz="1350">
                <a:solidFill>
                  <a:srgbClr val="1A1A1A"/>
                </a:solidFill>
                <a:latin typeface="Calibri"/>
                <a:ea typeface="Calibri"/>
                <a:cs typeface="Calibri"/>
              </a:rPr>
              <a:t>Kholoud Elkholy, Belal Ghanimeh</a:t>
            </a:r>
            <a:endParaRPr sz="1400"/>
          </a:p>
        </p:txBody>
      </p:sp>
      <p:sp>
        <p:nvSpPr>
          <p:cNvPr id="9" name="Text 7">
            <a:extLst xmlns:a="http://schemas.openxmlformats.org/drawingml/2006/main">
              <a:ext uri="{FF2B5EF4-FFF2-40B4-BE49-F238E27FC236}">
                <a16:creationId xmlns:a16="http://schemas.microsoft.com/office/drawing/2014/main" id="{6EA5CCC6-88F8-4922-B6A5-EB712C6299A5}"/>
              </a:ext>
            </a:extLst>
          </p:cNvPr>
          <p:cNvSpPr>
            <a:spLocks xmlns:a="http://schemas.openxmlformats.org/drawingml/2006/main" noGrp="1"/>
          </p:cNvSpPr>
          <p:nvPr/>
        </p:nvSpPr>
        <p:spPr>
          <a:xfrm xmlns:a="http://schemas.openxmlformats.org/drawingml/2006/main">
            <a:off x="731520" y="402336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COURSE</a:t>
            </a:r>
            <a:endParaRPr sz="1100"/>
          </a:p>
        </p:txBody>
      </p:sp>
      <p:sp>
        <p:nvSpPr>
          <p:cNvPr id="10" name="Text 8">
            <a:extLst xmlns:a="http://schemas.openxmlformats.org/drawingml/2006/main">
              <a:ext uri="{FF2B5EF4-FFF2-40B4-BE49-F238E27FC236}">
                <a16:creationId xmlns:a16="http://schemas.microsoft.com/office/drawing/2014/main" id="{4821F314-A1E7-44DD-A780-31BB855C84E4}"/>
              </a:ext>
            </a:extLst>
          </p:cNvPr>
          <p:cNvSpPr>
            <a:spLocks xmlns:a="http://schemas.openxmlformats.org/drawingml/2006/main" noGrp="1"/>
          </p:cNvSpPr>
          <p:nvPr/>
        </p:nvSpPr>
        <p:spPr>
          <a:xfrm xmlns:a="http://schemas.openxmlformats.org/drawingml/2006/main">
            <a:off x="3566160" y="402336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COE444 — Computer Security, Fall 2026</a:t>
            </a:r>
            <a:endParaRPr sz="1400"/>
          </a:p>
        </p:txBody>
      </p:sp>
      <p:sp>
        <p:nvSpPr>
          <p:cNvPr id="11" name="Text 9">
            <a:extLst xmlns:a="http://schemas.openxmlformats.org/drawingml/2006/main">
              <a:ext uri="{FF2B5EF4-FFF2-40B4-BE49-F238E27FC236}">
                <a16:creationId xmlns:a16="http://schemas.microsoft.com/office/drawing/2014/main" id="{D954B445-82C4-4BD8-A02D-7E523CCD2903}"/>
              </a:ext>
            </a:extLst>
          </p:cNvPr>
          <p:cNvSpPr>
            <a:spLocks xmlns:a="http://schemas.openxmlformats.org/drawingml/2006/main" noGrp="1"/>
          </p:cNvSpPr>
          <p:nvPr/>
        </p:nvSpPr>
        <p:spPr>
          <a:xfrm xmlns:a="http://schemas.openxmlformats.org/drawingml/2006/main">
            <a:off x="731520" y="452628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INSTRUCTOR</a:t>
            </a:r>
            <a:endParaRPr sz="1100"/>
          </a:p>
        </p:txBody>
      </p:sp>
      <p:sp>
        <p:nvSpPr>
          <p:cNvPr id="12" name="Text 10">
            <a:extLst xmlns:a="http://schemas.openxmlformats.org/drawingml/2006/main">
              <a:ext uri="{FF2B5EF4-FFF2-40B4-BE49-F238E27FC236}">
                <a16:creationId xmlns:a16="http://schemas.microsoft.com/office/drawing/2014/main" id="{0910AB33-8BD1-448C-9F44-985F959746CA}"/>
              </a:ext>
            </a:extLst>
          </p:cNvPr>
          <p:cNvSpPr>
            <a:spLocks xmlns:a="http://schemas.openxmlformats.org/drawingml/2006/main" noGrp="1"/>
          </p:cNvSpPr>
          <p:nvPr/>
        </p:nvSpPr>
        <p:spPr>
          <a:xfrm xmlns:a="http://schemas.openxmlformats.org/drawingml/2006/main">
            <a:off x="3566160" y="452628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Dr. Dana Haj Hussein</a:t>
            </a:r>
            <a:endParaRPr sz="1400"/>
          </a:p>
        </p:txBody>
      </p:sp>
      <p:sp>
        <p:nvSpPr>
          <p:cNvPr id="13" name="Text 11">
            <a:extLst xmlns:a="http://schemas.openxmlformats.org/drawingml/2006/main">
              <a:ext uri="{FF2B5EF4-FFF2-40B4-BE49-F238E27FC236}">
                <a16:creationId xmlns:a16="http://schemas.microsoft.com/office/drawing/2014/main" id="{7778FD06-2696-41B2-AB87-F0B6621CD4D9}"/>
              </a:ext>
            </a:extLst>
          </p:cNvPr>
          <p:cNvSpPr>
            <a:spLocks xmlns:a="http://schemas.openxmlformats.org/drawingml/2006/main" noGrp="1"/>
          </p:cNvSpPr>
          <p:nvPr/>
        </p:nvSpPr>
        <p:spPr>
          <a:xfrm xmlns:a="http://schemas.openxmlformats.org/drawingml/2006/main">
            <a:off x="731520" y="50292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1F5C99"/>
                </a:solidFill>
                <a:latin typeface="Calibri"/>
                <a:ea typeface="Calibri"/>
                <a:cs typeface="Calibri"/>
              </a:rPr>
              <a:t>DATE</a:t>
            </a:r>
            <a:endParaRPr sz="1100"/>
          </a:p>
        </p:txBody>
      </p:sp>
      <p:sp>
        <p:nvSpPr>
          <p:cNvPr id="14" name="Text 12">
            <a:extLst xmlns:a="http://schemas.openxmlformats.org/drawingml/2006/main">
              <a:ext uri="{FF2B5EF4-FFF2-40B4-BE49-F238E27FC236}">
                <a16:creationId xmlns:a16="http://schemas.microsoft.com/office/drawing/2014/main" id="{201B333F-28CB-43DD-B748-7D66AB6C8031}"/>
              </a:ext>
            </a:extLst>
          </p:cNvPr>
          <p:cNvSpPr>
            <a:spLocks xmlns:a="http://schemas.openxmlformats.org/drawingml/2006/main" noGrp="1"/>
          </p:cNvSpPr>
          <p:nvPr/>
        </p:nvSpPr>
        <p:spPr>
          <a:xfrm xmlns:a="http://schemas.openxmlformats.org/drawingml/2006/main">
            <a:off x="3566160" y="502920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A1A1A"/>
                </a:solidFill>
                <a:latin typeface="Calibri"/>
                <a:ea typeface="Calibri"/>
                <a:cs typeface="Calibri"/>
              </a:rPr>
              <a:t>October 2026</a:t>
            </a:r>
            <a:endParaRPr sz="1400"/>
          </a:p>
        </p:txBody>
      </p:sp>
      <p:sp>
        <p:nvSpPr>
          <p:cNvPr id="15" name="Text 13">
            <a:extLst xmlns:a="http://schemas.openxmlformats.org/drawingml/2006/main">
              <a:ext uri="{FF2B5EF4-FFF2-40B4-BE49-F238E27FC236}">
                <a16:creationId xmlns:a16="http://schemas.microsoft.com/office/drawing/2014/main" id="{8C7C6EE1-7DEB-4758-9AFF-6C677C945B4B}"/>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6" name="Text 14">
            <a:extLst xmlns:a="http://schemas.openxmlformats.org/drawingml/2006/main">
              <a:ext uri="{FF2B5EF4-FFF2-40B4-BE49-F238E27FC236}">
                <a16:creationId xmlns:a16="http://schemas.microsoft.com/office/drawing/2014/main" id="{DC1B97D4-FD92-4B9E-AF92-AD0C621EB888}"/>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1</a:t>
            </a:r>
            <a:endParaRPr sz="1000"/>
          </a:p>
        </p:txBody>
      </p:sp>
    </p:spTree>
    <p:extLst>
      <p:ext uri="{BB962C8B-B14F-4D97-AF65-F5344CB8AC3E}">
        <p14:creationId xmlns:p14="http://schemas.microsoft.com/office/powerpoint/2010/main" val="178375670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17828D-9DA5-4587-B7E7-3045D8747FE8}"/>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1 OF 4</a:t>
            </a:r>
            <a:endParaRPr sz="1200"/>
          </a:p>
        </p:txBody>
      </p:sp>
      <p:sp>
        <p:nvSpPr>
          <p:cNvPr id="3" name="Text 1">
            <a:extLst xmlns:a="http://schemas.openxmlformats.org/drawingml/2006/main">
              <a:ext uri="{FF2B5EF4-FFF2-40B4-BE49-F238E27FC236}">
                <a16:creationId xmlns:a16="http://schemas.microsoft.com/office/drawing/2014/main" id="{E8E7D34B-3AF4-4581-B991-B6A3E8DD0074}"/>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2</a:t>
            </a:r>
            <a:endParaRPr sz="1100"/>
          </a:p>
        </p:txBody>
      </p:sp>
      <p:sp>
        <p:nvSpPr>
          <p:cNvPr id="4" name="Text 2">
            <a:extLst xmlns:a="http://schemas.openxmlformats.org/drawingml/2006/main">
              <a:ext uri="{FF2B5EF4-FFF2-40B4-BE49-F238E27FC236}">
                <a16:creationId xmlns:a16="http://schemas.microsoft.com/office/drawing/2014/main" id="{C736904F-D6CE-4216-AEFD-258CD45F4B00}"/>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Problem Formulation</a:t>
            </a:r>
            <a:endParaRPr sz="2800"/>
          </a:p>
        </p:txBody>
      </p:sp>
      <p:sp>
        <p:nvSpPr>
          <p:cNvPr id="5" name="Shape 3">
            <a:extLst xmlns:a="http://schemas.openxmlformats.org/drawingml/2006/main">
              <a:ext uri="{FF2B5EF4-FFF2-40B4-BE49-F238E27FC236}">
                <a16:creationId xmlns:a16="http://schemas.microsoft.com/office/drawing/2014/main" id="{74795ABD-1D2C-40ED-AD69-39EEDB2E17AD}"/>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5B6E0E35-CE7E-4C58-BF89-ADBF210D6F1A}"/>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PROBLEM AND REFINEMENTS</a:t>
            </a:r>
            <a:endParaRPr sz="1100"/>
          </a:p>
        </p:txBody>
      </p:sp>
      <p:sp>
        <p:nvSpPr>
          <p:cNvPr id="9" name="Text 7">
            <a:extLst xmlns:a="http://schemas.openxmlformats.org/drawingml/2006/main">
              <a:ext uri="{FF2B5EF4-FFF2-40B4-BE49-F238E27FC236}">
                <a16:creationId xmlns:a16="http://schemas.microsoft.com/office/drawing/2014/main" id="{180912ED-31DF-48FB-A07F-3EA9F6B9B8F7}"/>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8">
            <a:extLst xmlns:a="http://schemas.openxmlformats.org/drawingml/2006/main">
              <a:ext uri="{FF2B5EF4-FFF2-40B4-BE49-F238E27FC236}">
                <a16:creationId xmlns:a16="http://schemas.microsoft.com/office/drawing/2014/main" id="{C7548D54-59BE-4DD0-9886-74747849DAD5}"/>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2</a:t>
            </a:r>
            <a:endParaRPr sz="1000"/>
          </a:p>
        </p:txBody>
      </p:sp>
      <p:sp>
        <p:nvSpPr>
          <p:cNvPr id="11" name="">
            <a:extLst xmlns:a="http://schemas.openxmlformats.org/drawingml/2006/main">
              <a:ext uri="{FF2B5EF4-FFF2-40B4-BE49-F238E27FC236}">
                <a16:creationId xmlns:a16="http://schemas.microsoft.com/office/drawing/2014/main" id="{96E562D3-087F-4A00-8FA3-D43A77567AA8}"/>
              </a:ext>
            </a:extLst>
          </p:cNvPr>
          <p:cNvSpPr>
            <a:spLocks xmlns:a="http://schemas.openxmlformats.org/drawingml/2006/main" noGrp="1"/>
          </p:cNvSpPr>
          <p:nvPr/>
        </p:nvSpPr>
        <p:spPr>
          <a:xfrm xmlns:a="http://schemas.openxmlformats.org/drawingml/2006/main">
            <a:off x="960120" y="2009775"/>
            <a:ext cx="10271474"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1A1A1A"/>
                </a:solidFill>
              </a:defRPr>
            </a:defPPr>
            <a:lvl1pPr>
              <a:defRPr sz="1725">
                <a:solidFill>
                  <a:srgbClr val="1A1A1A"/>
                </a:solidFill>
              </a:defRPr>
            </a:lvl1pPr>
            <a:lvl2pPr>
              <a:defRPr sz="1725">
                <a:solidFill>
                  <a:srgbClr val="1A1A1A"/>
                </a:solidFill>
              </a:defRPr>
            </a:lvl2pPr>
            <a:lvl3pPr>
              <a:defRPr sz="1725">
                <a:solidFill>
                  <a:srgbClr val="1A1A1A"/>
                </a:solidFill>
              </a:defRPr>
            </a:lvl3pPr>
            <a:lvl4pPr>
              <a:defRPr sz="1725">
                <a:solidFill>
                  <a:srgbClr val="1A1A1A"/>
                </a:solidFill>
              </a:defRPr>
            </a:lvl4pPr>
            <a:lvl5pPr>
              <a:defRPr sz="1725">
                <a:solidFill>
                  <a:srgbClr val="1A1A1A"/>
                </a:solidFill>
              </a:defRPr>
            </a:lvl5pPr>
            <a:lvl6pPr>
              <a:defRPr sz="1725">
                <a:solidFill>
                  <a:srgbClr val="1A1A1A"/>
                </a:solidFill>
              </a:defRPr>
            </a:lvl6pPr>
            <a:lvl7pPr>
              <a:defRPr sz="1725">
                <a:solidFill>
                  <a:srgbClr val="1A1A1A"/>
                </a:solidFill>
              </a:defRPr>
            </a:lvl7pPr>
            <a:lvl8pPr>
              <a:defRPr sz="1725">
                <a:solidFill>
                  <a:srgbClr val="1A1A1A"/>
                </a:solidFill>
              </a:defRPr>
            </a:lvl8pPr>
            <a:lvl9pPr>
              <a:defRPr sz="1725">
                <a:solidFill>
                  <a:srgbClr val="1A1A1A"/>
                </a:solidFill>
              </a:defRPr>
            </a:lvl9pPr>
          </a:lstStyle>
          <a:p xmlns:a="http://schemas.openxmlformats.org/drawingml/2006/main">
            <a:pPr>
              <a:defRPr sz="1725">
                <a:solidFill>
                  <a:srgbClr val="1A1A1A"/>
                </a:solidFill>
              </a:defRPr>
            </a:pPr>
            <a:r>
              <a:rPr sz="1725">
                <a:solidFill>
                  <a:srgbClr val="1A1A1A"/>
                </a:solidFill>
              </a:rPr>
              <a:t>Our AI agent chooses tools and steps to complete a user’s task.</a:t>
            </a:r>
          </a:p>
          <a:p xmlns:a="http://schemas.openxmlformats.org/drawingml/2006/main">
            <a:pPr>
              <a:defRPr sz="1725">
                <a:solidFill>
                  <a:srgbClr val="1A1A1A"/>
                </a:solidFill>
              </a:defRPr>
            </a:pPr>
            <a:r>
              <a:rPr sz="1725">
                <a:solidFill>
                  <a:srgbClr val="1A1A1A"/>
                </a:solidFill>
              </a:rPr>
              <a:t>An attacker hides instructions in text the agent reads and tries to change its actions.</a:t>
            </a:r>
          </a:p>
        </p:txBody>
      </p:sp>
      <p:sp>
        <p:nvSpPr>
          <p:cNvPr id="12" name="">
            <a:extLst xmlns:a="http://schemas.openxmlformats.org/drawingml/2006/main">
              <a:ext uri="{FF2B5EF4-FFF2-40B4-BE49-F238E27FC236}">
                <a16:creationId xmlns:a16="http://schemas.microsoft.com/office/drawing/2014/main" id="{09D59C3A-12BB-42EB-8425-323BA2D3B940}"/>
              </a:ext>
            </a:extLst>
          </p:cNvPr>
          <p:cNvSpPr>
            <a:spLocks xmlns:a="http://schemas.openxmlformats.org/drawingml/2006/main" noGrp="1"/>
          </p:cNvSpPr>
          <p:nvPr/>
        </p:nvSpPr>
        <p:spPr>
          <a:xfrm xmlns:a="http://schemas.openxmlformats.org/drawingml/2006/main">
            <a:off x="960120" y="2886075"/>
            <a:ext cx="10271474"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1A1A1A"/>
                </a:solidFill>
              </a:defRPr>
            </a:defPPr>
            <a:lvl1pPr>
              <a:defRPr sz="1725">
                <a:solidFill>
                  <a:srgbClr val="1A1A1A"/>
                </a:solidFill>
              </a:defRPr>
            </a:lvl1pPr>
            <a:lvl2pPr>
              <a:defRPr sz="1725">
                <a:solidFill>
                  <a:srgbClr val="1A1A1A"/>
                </a:solidFill>
              </a:defRPr>
            </a:lvl2pPr>
            <a:lvl3pPr>
              <a:defRPr sz="1725">
                <a:solidFill>
                  <a:srgbClr val="1A1A1A"/>
                </a:solidFill>
              </a:defRPr>
            </a:lvl3pPr>
            <a:lvl4pPr>
              <a:defRPr sz="1725">
                <a:solidFill>
                  <a:srgbClr val="1A1A1A"/>
                </a:solidFill>
              </a:defRPr>
            </a:lvl4pPr>
            <a:lvl5pPr>
              <a:defRPr sz="1725">
                <a:solidFill>
                  <a:srgbClr val="1A1A1A"/>
                </a:solidFill>
              </a:defRPr>
            </a:lvl5pPr>
            <a:lvl6pPr>
              <a:defRPr sz="1725">
                <a:solidFill>
                  <a:srgbClr val="1A1A1A"/>
                </a:solidFill>
              </a:defRPr>
            </a:lvl6pPr>
            <a:lvl7pPr>
              <a:defRPr sz="1725">
                <a:solidFill>
                  <a:srgbClr val="1A1A1A"/>
                </a:solidFill>
              </a:defRPr>
            </a:lvl7pPr>
            <a:lvl8pPr>
              <a:defRPr sz="1725">
                <a:solidFill>
                  <a:srgbClr val="1A1A1A"/>
                </a:solidFill>
              </a:defRPr>
            </a:lvl8pPr>
            <a:lvl9pPr>
              <a:defRPr sz="1725">
                <a:solidFill>
                  <a:srgbClr val="1A1A1A"/>
                </a:solidFill>
              </a:defRPr>
            </a:lvl9pPr>
          </a:lstStyle>
          <a:p xmlns:a="http://schemas.openxmlformats.org/drawingml/2006/main">
            <a:pPr>
              <a:defRPr sz="1725">
                <a:solidFill>
                  <a:srgbClr val="1A1A1A"/>
                </a:solidFill>
              </a:defRPr>
            </a:pPr>
            <a:r>
              <a:rPr sz="1725">
                <a:solidFill>
                  <a:srgbClr val="1A1A1A"/>
                </a:solidFill>
              </a:rPr>
              <a:t>Example: the user asks for a policy email. A poisoned document tells the agent</a:t>
            </a:r>
          </a:p>
          <a:p xmlns:a="http://schemas.openxmlformats.org/drawingml/2006/main">
            <a:pPr>
              <a:defRPr sz="1725">
                <a:solidFill>
                  <a:srgbClr val="1A1A1A"/>
                </a:solidFill>
              </a:defRPr>
            </a:pPr>
            <a:r>
              <a:rPr sz="1725">
                <a:solidFill>
                  <a:srgbClr val="1A1A1A"/>
                </a:solidFill>
              </a:rPr>
              <a:t>to copy an attacker. Our goal is to stop that action while keeping the task useful.</a:t>
            </a:r>
          </a:p>
        </p:txBody>
      </p:sp>
      <p:graphicFrame>
        <p:nvGraphicFramePr>
          <p:cNvPr id="13" name="">
            <a:extLst xmlns:a="http://schemas.openxmlformats.org/drawingml/2006/main">
              <a:ext uri="{FF2B5EF4-FFF2-40B4-BE49-F238E27FC236}">
                <a16:creationId xmlns:a16="http://schemas.microsoft.com/office/drawing/2014/main" id="{DD0A1B8F-97B6-41D1-8417-61671A374950}"/>
              </a:ext>
            </a:extLst>
          </p:cNvPr>
          <p:cNvGraphicFramePr/>
          <p:nvPr/>
        </p:nvGraphicFramePr>
        <p:xfrm>
          <a:off xmlns:a="http://schemas.openxmlformats.org/drawingml/2006/main" x="731520" y="3886200"/>
          <a:ext xmlns:a="http://schemas.openxmlformats.org/drawingml/2006/main" cx="10728674" cy="2133600"/>
        </p:xfrm>
        <a:graphic xmlns:a="http://schemas.openxmlformats.org/drawingml/2006/main">
          <a:graphicData uri="http://schemas.openxmlformats.org/drawingml/2006/table">
            <a:tbl>
              <a:tblPr/>
              <a:tblGrid>
                <a:gridCol w="2857500"/>
                <a:gridCol w="7871174"/>
              </a:tblGrid>
              <a:tr h="426720">
                <a:tc>
                  <a:txBody>
                    <a:bodyPr/>
                    <a:lstStyle/>
                    <a:p>
                      <a:r>
                        <a:rPr sz="1313" b="1">
                          <a:solidFill>
                            <a:srgbClr val="FFFFFF"/>
                          </a:solidFill>
                        </a:rPr>
                        <a:t>Part</a:t>
                      </a:r>
                    </a:p>
                  </a:txBody>
                  <a:tcPr marL="91440" marR="91440" marT="45720" marB="45720">
                    <a:lnL w="9525">
                      <a:solidFill>
                        <a:srgbClr val="C9D6E3"/>
                      </a:solidFill>
                      <a:prstDash val="solid"/>
                    </a:lnL>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Our current approach</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r>
              <a:tr h="426720">
                <a:tc>
                  <a:txBody>
                    <a:bodyPr/>
                    <a:lstStyle/>
                    <a:p>
                      <a:r>
                        <a:rPr sz="1313" b="0">
                          <a:solidFill>
                            <a:srgbClr val="1A1A1A"/>
                          </a:solidFill>
                        </a:rPr>
                        <a:t>Test environment</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Document search, contact lookup and simulated email.</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Detection</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An AI model checks outside text for attack instructions.</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Prevention</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A gate checks where recipient addresses came from.</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Changes since proposal</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Hosted models, four comparison setups and live email approval.</a:t>
                      </a:r>
                    </a:p>
                  </a:txBody>
                  <a:tcPr marL="91440" marR="91440" marT="45720" marB="45720">
                    <a:lnR w="9525">
                      <a:solidFill>
                        <a:srgbClr val="C9D6E3"/>
                      </a:solidFill>
                      <a:prstDash val="solid"/>
                    </a:lnR>
                    <a:lnB w="9525">
                      <a:solidFill>
                        <a:srgbClr val="C9D6E3"/>
                      </a:solidFill>
                      <a:prstDash val="solid"/>
                    </a:lnB>
                    <a:solidFill>
                      <a:srgbClr val="FFFFFF"/>
                    </a:solidFill>
                  </a:tcPr>
                </a:tc>
              </a:tr>
            </a:tbl>
          </a:graphicData>
        </a:graphic>
      </p:graphicFrame>
    </p:spTree>
    <p:extLst>
      <p:ext uri="{BB962C8B-B14F-4D97-AF65-F5344CB8AC3E}">
        <p14:creationId xmlns:p14="http://schemas.microsoft.com/office/powerpoint/2010/main" val="192106566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063E416-9C61-479A-9FE6-754AAFC47E2F}"/>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2 OF 4</a:t>
            </a:r>
            <a:endParaRPr sz="1200"/>
          </a:p>
        </p:txBody>
      </p:sp>
      <p:sp>
        <p:nvSpPr>
          <p:cNvPr id="3" name="Text 1">
            <a:extLst xmlns:a="http://schemas.openxmlformats.org/drawingml/2006/main">
              <a:ext uri="{FF2B5EF4-FFF2-40B4-BE49-F238E27FC236}">
                <a16:creationId xmlns:a16="http://schemas.microsoft.com/office/drawing/2014/main" id="{F2105F84-72F0-41BD-B80D-9B6CFFC10AAF}"/>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3</a:t>
            </a:r>
            <a:endParaRPr sz="1100"/>
          </a:p>
        </p:txBody>
      </p:sp>
      <p:sp>
        <p:nvSpPr>
          <p:cNvPr id="4" name="Text 2">
            <a:extLst xmlns:a="http://schemas.openxmlformats.org/drawingml/2006/main">
              <a:ext uri="{FF2B5EF4-FFF2-40B4-BE49-F238E27FC236}">
                <a16:creationId xmlns:a16="http://schemas.microsoft.com/office/drawing/2014/main" id="{68C58182-B9AA-449A-BB34-A07723BB8B05}"/>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Progress Update</a:t>
            </a:r>
            <a:endParaRPr sz="2800"/>
          </a:p>
        </p:txBody>
      </p:sp>
      <p:sp>
        <p:nvSpPr>
          <p:cNvPr id="5" name="Shape 3">
            <a:extLst xmlns:a="http://schemas.openxmlformats.org/drawingml/2006/main">
              <a:ext uri="{FF2B5EF4-FFF2-40B4-BE49-F238E27FC236}">
                <a16:creationId xmlns:a16="http://schemas.microsoft.com/office/drawing/2014/main" id="{098C6221-EF02-43C5-98B5-915D9F1CC56B}"/>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05B36A27-0E05-4DEE-87AC-7C67543427C4}"/>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IMPLEMENTATION AND EVIDENCE</a:t>
            </a:r>
            <a:endParaRPr sz="1100"/>
          </a:p>
        </p:txBody>
      </p:sp>
      <p:sp>
        <p:nvSpPr>
          <p:cNvPr id="9" name="Text 7">
            <a:extLst xmlns:a="http://schemas.openxmlformats.org/drawingml/2006/main">
              <a:ext uri="{FF2B5EF4-FFF2-40B4-BE49-F238E27FC236}">
                <a16:creationId xmlns:a16="http://schemas.microsoft.com/office/drawing/2014/main" id="{FFB8CF88-2D91-411C-958A-8BE85BF38B8D}"/>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8">
            <a:extLst xmlns:a="http://schemas.openxmlformats.org/drawingml/2006/main">
              <a:ext uri="{FF2B5EF4-FFF2-40B4-BE49-F238E27FC236}">
                <a16:creationId xmlns:a16="http://schemas.microsoft.com/office/drawing/2014/main" id="{B3ADDB78-2973-4983-953F-7E3576F4D0C7}"/>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3</a:t>
            </a:r>
            <a:endParaRPr sz="1000"/>
          </a:p>
        </p:txBody>
      </p:sp>
      <p:sp>
        <p:nvSpPr>
          <p:cNvPr id="11" name="">
            <a:extLst xmlns:a="http://schemas.openxmlformats.org/drawingml/2006/main">
              <a:ext uri="{FF2B5EF4-FFF2-40B4-BE49-F238E27FC236}">
                <a16:creationId xmlns:a16="http://schemas.microsoft.com/office/drawing/2014/main" id="{35872F6C-D03E-4ED2-9A5A-3A662673CE24}"/>
              </a:ext>
            </a:extLst>
          </p:cNvPr>
          <p:cNvSpPr>
            <a:spLocks xmlns:a="http://schemas.openxmlformats.org/drawingml/2006/main" noGrp="1"/>
          </p:cNvSpPr>
          <p:nvPr/>
        </p:nvSpPr>
        <p:spPr>
          <a:xfrm xmlns:a="http://schemas.openxmlformats.org/drawingml/2006/main">
            <a:off x="960120" y="2009775"/>
            <a:ext cx="10271474"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1A1A1A"/>
                </a:solidFill>
              </a:defRPr>
            </a:defPPr>
            <a:lvl1pPr>
              <a:defRPr sz="1575">
                <a:solidFill>
                  <a:srgbClr val="1A1A1A"/>
                </a:solidFill>
              </a:defRPr>
            </a:lvl1pPr>
            <a:lvl2pPr>
              <a:defRPr sz="1575">
                <a:solidFill>
                  <a:srgbClr val="1A1A1A"/>
                </a:solidFill>
              </a:defRPr>
            </a:lvl2pPr>
            <a:lvl3pPr>
              <a:defRPr sz="1575">
                <a:solidFill>
                  <a:srgbClr val="1A1A1A"/>
                </a:solidFill>
              </a:defRPr>
            </a:lvl3pPr>
            <a:lvl4pPr>
              <a:defRPr sz="1575">
                <a:solidFill>
                  <a:srgbClr val="1A1A1A"/>
                </a:solidFill>
              </a:defRPr>
            </a:lvl4pPr>
            <a:lvl5pPr>
              <a:defRPr sz="1575">
                <a:solidFill>
                  <a:srgbClr val="1A1A1A"/>
                </a:solidFill>
              </a:defRPr>
            </a:lvl5pPr>
            <a:lvl6pPr>
              <a:defRPr sz="1575">
                <a:solidFill>
                  <a:srgbClr val="1A1A1A"/>
                </a:solidFill>
              </a:defRPr>
            </a:lvl6pPr>
            <a:lvl7pPr>
              <a:defRPr sz="1575">
                <a:solidFill>
                  <a:srgbClr val="1A1A1A"/>
                </a:solidFill>
              </a:defRPr>
            </a:lvl7pPr>
            <a:lvl8pPr>
              <a:defRPr sz="1575">
                <a:solidFill>
                  <a:srgbClr val="1A1A1A"/>
                </a:solidFill>
              </a:defRPr>
            </a:lvl8pPr>
            <a:lvl9pPr>
              <a:defRPr sz="1575">
                <a:solidFill>
                  <a:srgbClr val="1A1A1A"/>
                </a:solidFill>
              </a:defRPr>
            </a:lvl9pPr>
          </a:lstStyle>
          <a:p xmlns:a="http://schemas.openxmlformats.org/drawingml/2006/main">
            <a:pPr>
              <a:defRPr sz="1575">
                <a:solidFill>
                  <a:srgbClr val="1A1A1A"/>
                </a:solidFill>
              </a:defRPr>
            </a:pPr>
            <a:r>
              <a:rPr sz="1575">
                <a:solidFill>
                  <a:srgbClr val="1A1A1A"/>
                </a:solidFill>
              </a:rPr>
              <a:t>Built: an agent that chooses tools, attack tests, a detector and a recipient gate.</a:t>
            </a:r>
          </a:p>
          <a:p xmlns:a="http://schemas.openxmlformats.org/drawingml/2006/main">
            <a:pPr>
              <a:defRPr sz="1575">
                <a:solidFill>
                  <a:srgbClr val="1A1A1A"/>
                </a:solidFill>
              </a:defRPr>
            </a:pPr>
            <a:r>
              <a:rPr sz="1575">
                <a:solidFill>
                  <a:srgbClr val="1A1A1A"/>
                </a:solidFill>
              </a:rPr>
              <a:t>Recent work: approval before protected live sends and a search startup fix.</a:t>
            </a:r>
          </a:p>
        </p:txBody>
      </p:sp>
      <p:sp>
        <p:nvSpPr>
          <p:cNvPr id="12" name="">
            <a:extLst xmlns:a="http://schemas.openxmlformats.org/drawingml/2006/main">
              <a:ext uri="{FF2B5EF4-FFF2-40B4-BE49-F238E27FC236}">
                <a16:creationId xmlns:a16="http://schemas.microsoft.com/office/drawing/2014/main" id="{CFECC48F-DCC1-4B9A-9540-ABF20495E020}"/>
              </a:ext>
            </a:extLst>
          </p:cNvPr>
          <p:cNvSpPr>
            <a:spLocks xmlns:a="http://schemas.openxmlformats.org/drawingml/2006/main" noGrp="1"/>
          </p:cNvSpPr>
          <p:nvPr/>
        </p:nvSpPr>
        <p:spPr>
          <a:xfrm xmlns:a="http://schemas.openxmlformats.org/drawingml/2006/main">
            <a:off x="960120" y="2771775"/>
            <a:ext cx="10271474"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1A1A1A"/>
                </a:solidFill>
              </a:defRPr>
            </a:defPPr>
            <a:lvl1pPr>
              <a:defRPr sz="1575">
                <a:solidFill>
                  <a:srgbClr val="1A1A1A"/>
                </a:solidFill>
              </a:defRPr>
            </a:lvl1pPr>
            <a:lvl2pPr>
              <a:defRPr sz="1575">
                <a:solidFill>
                  <a:srgbClr val="1A1A1A"/>
                </a:solidFill>
              </a:defRPr>
            </a:lvl2pPr>
            <a:lvl3pPr>
              <a:defRPr sz="1575">
                <a:solidFill>
                  <a:srgbClr val="1A1A1A"/>
                </a:solidFill>
              </a:defRPr>
            </a:lvl3pPr>
            <a:lvl4pPr>
              <a:defRPr sz="1575">
                <a:solidFill>
                  <a:srgbClr val="1A1A1A"/>
                </a:solidFill>
              </a:defRPr>
            </a:lvl4pPr>
            <a:lvl5pPr>
              <a:defRPr sz="1575">
                <a:solidFill>
                  <a:srgbClr val="1A1A1A"/>
                </a:solidFill>
              </a:defRPr>
            </a:lvl5pPr>
            <a:lvl6pPr>
              <a:defRPr sz="1575">
                <a:solidFill>
                  <a:srgbClr val="1A1A1A"/>
                </a:solidFill>
              </a:defRPr>
            </a:lvl6pPr>
            <a:lvl7pPr>
              <a:defRPr sz="1575">
                <a:solidFill>
                  <a:srgbClr val="1A1A1A"/>
                </a:solidFill>
              </a:defRPr>
            </a:lvl7pPr>
            <a:lvl8pPr>
              <a:defRPr sz="1575">
                <a:solidFill>
                  <a:srgbClr val="1A1A1A"/>
                </a:solidFill>
              </a:defRPr>
            </a:lvl8pPr>
            <a:lvl9pPr>
              <a:defRPr sz="1575">
                <a:solidFill>
                  <a:srgbClr val="1A1A1A"/>
                </a:solidFill>
              </a:defRPr>
            </a:lvl9pPr>
          </a:lstStyle>
          <a:p xmlns:a="http://schemas.openxmlformats.org/drawingml/2006/main">
            <a:pPr>
              <a:defRPr sz="1575">
                <a:solidFill>
                  <a:srgbClr val="1A1A1A"/>
                </a:solidFill>
              </a:defRPr>
            </a:pPr>
            <a:r>
              <a:rPr sz="1575">
                <a:solidFill>
                  <a:srgbClr val="1A1A1A"/>
                </a:solidFill>
              </a:rPr>
              <a:t>Data: 23 custom attacks + 200 adapted from Microsoft’s LLMail-Inject dataset.</a:t>
            </a:r>
          </a:p>
          <a:p xmlns:a="http://schemas.openxmlformats.org/drawingml/2006/main">
            <a:pPr>
              <a:defRPr sz="1575">
                <a:solidFill>
                  <a:srgbClr val="1A1A1A"/>
                </a:solidFill>
              </a:defRPr>
            </a:pPr>
            <a:r>
              <a:rPr sz="1575">
                <a:solidFill>
                  <a:srgbClr val="1A1A1A"/>
                </a:solidFill>
              </a:rPr>
              <a:t>Checks: 256 software checks pass. Main experiment: 10 custom attacks, 3 tries each.</a:t>
            </a:r>
          </a:p>
        </p:txBody>
      </p:sp>
      <p:graphicFrame>
        <p:nvGraphicFramePr>
          <p:cNvPr id="13" name="">
            <a:extLst xmlns:a="http://schemas.openxmlformats.org/drawingml/2006/main">
              <a:ext uri="{FF2B5EF4-FFF2-40B4-BE49-F238E27FC236}">
                <a16:creationId xmlns:a16="http://schemas.microsoft.com/office/drawing/2014/main" id="{B5FC41C4-90E0-4520-9550-F69B7C8D1338}"/>
              </a:ext>
            </a:extLst>
          </p:cNvPr>
          <p:cNvGraphicFramePr/>
          <p:nvPr/>
        </p:nvGraphicFramePr>
        <p:xfrm>
          <a:off xmlns:a="http://schemas.openxmlformats.org/drawingml/2006/main" x="731520" y="3600450"/>
          <a:ext xmlns:a="http://schemas.openxmlformats.org/drawingml/2006/main" cx="10728674" cy="1952625"/>
        </p:xfrm>
        <a:graphic xmlns:a="http://schemas.openxmlformats.org/drawingml/2006/main">
          <a:graphicData uri="http://schemas.openxmlformats.org/drawingml/2006/table">
            <a:tbl>
              <a:tblPr/>
              <a:tblGrid>
                <a:gridCol w="4286250"/>
                <a:gridCol w="2857500"/>
                <a:gridCol w="3584924"/>
              </a:tblGrid>
              <a:tr h="390525">
                <a:tc>
                  <a:txBody>
                    <a:bodyPr/>
                    <a:lstStyle/>
                    <a:p>
                      <a:r>
                        <a:rPr sz="1313" b="1">
                          <a:solidFill>
                            <a:srgbClr val="FFFFFF"/>
                          </a:solidFill>
                        </a:rPr>
                        <a:t>Setup</a:t>
                      </a:r>
                    </a:p>
                  </a:txBody>
                  <a:tcPr marL="91440" marR="91440" marT="45720" marB="45720">
                    <a:lnL w="9525">
                      <a:solidFill>
                        <a:srgbClr val="C9D6E3"/>
                      </a:solidFill>
                      <a:prstDash val="solid"/>
                    </a:lnL>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Successful attacks</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Normal tasks completed</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r>
              <a:tr h="390525">
                <a:tc>
                  <a:txBody>
                    <a:bodyPr/>
                    <a:lstStyle/>
                    <a:p>
                      <a:r>
                        <a:rPr sz="1313" b="0">
                          <a:solidFill>
                            <a:srgbClr val="1A1A1A"/>
                          </a:solidFill>
                        </a:rPr>
                        <a:t>No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6/10 (60%)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r h="390525">
                <a:tc>
                  <a:txBody>
                    <a:bodyPr/>
                    <a:lstStyle/>
                    <a:p>
                      <a:r>
                        <a:rPr sz="1313" b="0">
                          <a:solidFill>
                            <a:srgbClr val="1A1A1A"/>
                          </a:solidFill>
                        </a:rPr>
                        <a:t>Detection only</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1/10 (10%)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r h="390525">
                <a:tc>
                  <a:txBody>
                    <a:bodyPr/>
                    <a:lstStyle/>
                    <a:p>
                      <a:r>
                        <a:rPr sz="1313" b="0">
                          <a:solidFill>
                            <a:srgbClr val="1A1A1A"/>
                          </a:solidFill>
                        </a:rPr>
                        <a:t>Recipient gate only</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3/10 (30%)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r h="390525">
                <a:tc>
                  <a:txBody>
                    <a:bodyPr/>
                    <a:lstStyle/>
                    <a:p>
                      <a:r>
                        <a:rPr sz="1313" b="0">
                          <a:solidFill>
                            <a:srgbClr val="1A1A1A"/>
                          </a:solidFill>
                        </a:rPr>
                        <a:t>Both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1/10 (10%)</a:t>
                      </a:r>
                    </a:p>
                  </a:txBody>
                  <a:tcPr marL="91440" marR="91440" marT="45720" marB="45720">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7/7</a:t>
                      </a:r>
                    </a:p>
                  </a:txBody>
                  <a:tcPr marL="91440" marR="91440" marT="45720" marB="45720">
                    <a:lnR w="9525">
                      <a:solidFill>
                        <a:srgbClr val="C9D6E3"/>
                      </a:solidFill>
                      <a:prstDash val="solid"/>
                    </a:lnR>
                    <a:lnB w="9525">
                      <a:solidFill>
                        <a:srgbClr val="C9D6E3"/>
                      </a:solidFill>
                      <a:prstDash val="solid"/>
                    </a:lnB>
                    <a:solidFill>
                      <a:srgbClr val="FFFFFF"/>
                    </a:solidFill>
                  </a:tcPr>
                </a:tc>
              </a:tr>
            </a:tbl>
          </a:graphicData>
        </a:graphic>
      </p:graphicFrame>
      <p:sp>
        <p:nvSpPr>
          <p:cNvPr id="14" name="">
            <a:extLst xmlns:a="http://schemas.openxmlformats.org/drawingml/2006/main">
              <a:ext uri="{FF2B5EF4-FFF2-40B4-BE49-F238E27FC236}">
                <a16:creationId xmlns:a16="http://schemas.microsoft.com/office/drawing/2014/main" id="{806BA041-D84B-4B9A-874F-0BC37D55615E}"/>
              </a:ext>
            </a:extLst>
          </p:cNvPr>
          <p:cNvSpPr>
            <a:spLocks xmlns:a="http://schemas.openxmlformats.org/drawingml/2006/main" noGrp="1"/>
          </p:cNvSpPr>
          <p:nvPr/>
        </p:nvSpPr>
        <p:spPr>
          <a:xfrm xmlns:a="http://schemas.openxmlformats.org/drawingml/2006/main">
            <a:off x="960120" y="5705475"/>
            <a:ext cx="10271474"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00">
                <a:solidFill>
                  <a:srgbClr val="1A1A1A"/>
                </a:solidFill>
              </a:defRPr>
            </a:defPPr>
            <a:lvl1pPr>
              <a:defRPr sz="1400">
                <a:solidFill>
                  <a:srgbClr val="1A1A1A"/>
                </a:solidFill>
              </a:defRPr>
            </a:lvl1pPr>
            <a:lvl2pPr>
              <a:defRPr sz="1400">
                <a:solidFill>
                  <a:srgbClr val="1A1A1A"/>
                </a:solidFill>
              </a:defRPr>
            </a:lvl2pPr>
            <a:lvl3pPr>
              <a:defRPr sz="1400">
                <a:solidFill>
                  <a:srgbClr val="1A1A1A"/>
                </a:solidFill>
              </a:defRPr>
            </a:lvl3pPr>
            <a:lvl4pPr>
              <a:defRPr sz="1400">
                <a:solidFill>
                  <a:srgbClr val="1A1A1A"/>
                </a:solidFill>
              </a:defRPr>
            </a:lvl4pPr>
            <a:lvl5pPr>
              <a:defRPr sz="1400">
                <a:solidFill>
                  <a:srgbClr val="1A1A1A"/>
                </a:solidFill>
              </a:defRPr>
            </a:lvl5pPr>
            <a:lvl6pPr>
              <a:defRPr sz="1400">
                <a:solidFill>
                  <a:srgbClr val="1A1A1A"/>
                </a:solidFill>
              </a:defRPr>
            </a:lvl6pPr>
            <a:lvl7pPr>
              <a:defRPr sz="1400">
                <a:solidFill>
                  <a:srgbClr val="1A1A1A"/>
                </a:solidFill>
              </a:defRPr>
            </a:lvl7pPr>
            <a:lvl8pPr>
              <a:defRPr sz="1400">
                <a:solidFill>
                  <a:srgbClr val="1A1A1A"/>
                </a:solidFill>
              </a:defRPr>
            </a:lvl8pPr>
            <a:lvl9pPr>
              <a:defRPr sz="1400">
                <a:solidFill>
                  <a:srgbClr val="1A1A1A"/>
                </a:solidFill>
              </a:defRPr>
            </a:lvl9pPr>
          </a:lstStyle>
          <a:p xmlns:a="http://schemas.openxmlformats.org/drawingml/2006/main">
            <a:pPr>
              <a:defRPr sz="1400">
                <a:solidFill>
                  <a:srgbClr val="1A1A1A"/>
                </a:solidFill>
              </a:defRPr>
            </a:pPr>
            <a:r>
              <a:rPr sz="1400">
                <a:solidFill>
                  <a:srgbClr val="1A1A1A"/>
                </a:solidFill>
              </a:rPr>
              <a:t>Early results from saved October 13 runs. Each example counts by majority of 3 tries.</a:t>
            </a:r>
          </a:p>
          <a:p xmlns:a="http://schemas.openxmlformats.org/drawingml/2006/main">
            <a:pPr>
              <a:defRPr sz="1400">
                <a:solidFill>
                  <a:srgbClr val="1A1A1A"/>
                </a:solidFill>
              </a:defRPr>
            </a:pPr>
            <a:r>
              <a:rPr sz="1400">
                <a:solidFill>
                  <a:srgbClr val="1A1A1A"/>
                </a:solidFill>
              </a:rPr>
              <a:t>We scored the same saved runs under four rules. The new live approval needs testing.</a:t>
            </a:r>
          </a:p>
        </p:txBody>
      </p:sp>
    </p:spTree>
    <p:extLst>
      <p:ext uri="{BB962C8B-B14F-4D97-AF65-F5344CB8AC3E}">
        <p14:creationId xmlns:p14="http://schemas.microsoft.com/office/powerpoint/2010/main" val="18155279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C8DCF2D-86F6-4EA2-A0E6-91788646830A}"/>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3 OF 4</a:t>
            </a:r>
            <a:endParaRPr sz="1200"/>
          </a:p>
        </p:txBody>
      </p:sp>
      <p:sp>
        <p:nvSpPr>
          <p:cNvPr id="3" name="Text 1">
            <a:extLst xmlns:a="http://schemas.openxmlformats.org/drawingml/2006/main">
              <a:ext uri="{FF2B5EF4-FFF2-40B4-BE49-F238E27FC236}">
                <a16:creationId xmlns:a16="http://schemas.microsoft.com/office/drawing/2014/main" id="{6ACEA33B-0445-4D72-BEED-5A608BD51F28}"/>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4</a:t>
            </a:r>
            <a:endParaRPr sz="1100"/>
          </a:p>
        </p:txBody>
      </p:sp>
      <p:sp>
        <p:nvSpPr>
          <p:cNvPr id="4" name="Text 2">
            <a:extLst xmlns:a="http://schemas.openxmlformats.org/drawingml/2006/main">
              <a:ext uri="{FF2B5EF4-FFF2-40B4-BE49-F238E27FC236}">
                <a16:creationId xmlns:a16="http://schemas.microsoft.com/office/drawing/2014/main" id="{0BC99978-A4A7-4D5C-9009-EB538AE070DB}"/>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Expected Outcomes</a:t>
            </a:r>
            <a:endParaRPr sz="2800"/>
          </a:p>
        </p:txBody>
      </p:sp>
      <p:sp>
        <p:nvSpPr>
          <p:cNvPr id="5" name="Shape 3">
            <a:extLst xmlns:a="http://schemas.openxmlformats.org/drawingml/2006/main">
              <a:ext uri="{FF2B5EF4-FFF2-40B4-BE49-F238E27FC236}">
                <a16:creationId xmlns:a16="http://schemas.microsoft.com/office/drawing/2014/main" id="{A83256B2-19DB-4E66-9C2A-2A222D7B7D85}"/>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1301D2A5-236A-4F59-805A-978C7FB97A7D}"/>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TARGETS AND LIMITATIONS</a:t>
            </a:r>
            <a:endParaRPr sz="1100"/>
          </a:p>
        </p:txBody>
      </p:sp>
      <p:sp>
        <p:nvSpPr>
          <p:cNvPr id="9" name="Text 7">
            <a:extLst xmlns:a="http://schemas.openxmlformats.org/drawingml/2006/main">
              <a:ext uri="{FF2B5EF4-FFF2-40B4-BE49-F238E27FC236}">
                <a16:creationId xmlns:a16="http://schemas.microsoft.com/office/drawing/2014/main" id="{53EEEDB1-74EA-4077-8219-68D9CA087E8E}"/>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8">
            <a:extLst xmlns:a="http://schemas.openxmlformats.org/drawingml/2006/main">
              <a:ext uri="{FF2B5EF4-FFF2-40B4-BE49-F238E27FC236}">
                <a16:creationId xmlns:a16="http://schemas.microsoft.com/office/drawing/2014/main" id="{AB5A9C4F-E110-40F5-931F-30C01721E001}"/>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4</a:t>
            </a:r>
            <a:endParaRPr sz="1000"/>
          </a:p>
        </p:txBody>
      </p:sp>
      <p:sp>
        <p:nvSpPr>
          <p:cNvPr id="11" name="">
            <a:extLst xmlns:a="http://schemas.openxmlformats.org/drawingml/2006/main">
              <a:ext uri="{FF2B5EF4-FFF2-40B4-BE49-F238E27FC236}">
                <a16:creationId xmlns:a16="http://schemas.microsoft.com/office/drawing/2014/main" id="{E1EC82FB-C717-41ED-90C2-A965366A4A53}"/>
              </a:ext>
            </a:extLst>
          </p:cNvPr>
          <p:cNvSpPr>
            <a:spLocks xmlns:a="http://schemas.openxmlformats.org/drawingml/2006/main" noGrp="1"/>
          </p:cNvSpPr>
          <p:nvPr/>
        </p:nvSpPr>
        <p:spPr>
          <a:xfrm xmlns:a="http://schemas.openxmlformats.org/drawingml/2006/main">
            <a:off x="960120" y="2009775"/>
            <a:ext cx="10271474"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a:solidFill>
                  <a:srgbClr val="1A1A1A"/>
                </a:solidFill>
              </a:defRPr>
            </a:defPPr>
            <a:lvl1pPr>
              <a:defRPr sz="1725">
                <a:solidFill>
                  <a:srgbClr val="1A1A1A"/>
                </a:solidFill>
              </a:defRPr>
            </a:lvl1pPr>
            <a:lvl2pPr>
              <a:defRPr sz="1725">
                <a:solidFill>
                  <a:srgbClr val="1A1A1A"/>
                </a:solidFill>
              </a:defRPr>
            </a:lvl2pPr>
            <a:lvl3pPr>
              <a:defRPr sz="1725">
                <a:solidFill>
                  <a:srgbClr val="1A1A1A"/>
                </a:solidFill>
              </a:defRPr>
            </a:lvl3pPr>
            <a:lvl4pPr>
              <a:defRPr sz="1725">
                <a:solidFill>
                  <a:srgbClr val="1A1A1A"/>
                </a:solidFill>
              </a:defRPr>
            </a:lvl4pPr>
            <a:lvl5pPr>
              <a:defRPr sz="1725">
                <a:solidFill>
                  <a:srgbClr val="1A1A1A"/>
                </a:solidFill>
              </a:defRPr>
            </a:lvl5pPr>
            <a:lvl6pPr>
              <a:defRPr sz="1725">
                <a:solidFill>
                  <a:srgbClr val="1A1A1A"/>
                </a:solidFill>
              </a:defRPr>
            </a:lvl6pPr>
            <a:lvl7pPr>
              <a:defRPr sz="1725">
                <a:solidFill>
                  <a:srgbClr val="1A1A1A"/>
                </a:solidFill>
              </a:defRPr>
            </a:lvl7pPr>
            <a:lvl8pPr>
              <a:defRPr sz="1725">
                <a:solidFill>
                  <a:srgbClr val="1A1A1A"/>
                </a:solidFill>
              </a:defRPr>
            </a:lvl8pPr>
            <a:lvl9pPr>
              <a:defRPr sz="1725">
                <a:solidFill>
                  <a:srgbClr val="1A1A1A"/>
                </a:solidFill>
              </a:defRPr>
            </a:lvl9pPr>
          </a:lstStyle>
          <a:p xmlns:a="http://schemas.openxmlformats.org/drawingml/2006/main">
            <a:pPr>
              <a:defRPr sz="1725">
                <a:solidFill>
                  <a:srgbClr val="1A1A1A"/>
                </a:solidFill>
              </a:defRPr>
            </a:pPr>
            <a:r>
              <a:rPr sz="1725">
                <a:solidFill>
                  <a:srgbClr val="1A1A1A"/>
                </a:solidFill>
              </a:rPr>
              <a:t>The goal stays the same: fewer attacker-directed actions while the agent</a:t>
            </a:r>
          </a:p>
          <a:p xmlns:a="http://schemas.openxmlformats.org/drawingml/2006/main">
            <a:pPr>
              <a:defRPr sz="1725">
                <a:solidFill>
                  <a:srgbClr val="1A1A1A"/>
                </a:solidFill>
              </a:defRPr>
            </a:pPr>
            <a:r>
              <a:rPr sz="1725">
                <a:solidFill>
                  <a:srgbClr val="1A1A1A"/>
                </a:solidFill>
              </a:rPr>
              <a:t>continues to help the user. Email is our controlled test case.</a:t>
            </a:r>
          </a:p>
        </p:txBody>
      </p:sp>
      <p:sp>
        <p:nvSpPr>
          <p:cNvPr id="12" name="">
            <a:extLst xmlns:a="http://schemas.openxmlformats.org/drawingml/2006/main">
              <a:ext uri="{FF2B5EF4-FFF2-40B4-BE49-F238E27FC236}">
                <a16:creationId xmlns:a16="http://schemas.microsoft.com/office/drawing/2014/main" id="{563DC31C-BDA8-4869-A0CA-7D2D02224E5B}"/>
              </a:ext>
            </a:extLst>
          </p:cNvPr>
          <p:cNvSpPr>
            <a:spLocks xmlns:a="http://schemas.openxmlformats.org/drawingml/2006/main" noGrp="1"/>
          </p:cNvSpPr>
          <p:nvPr/>
        </p:nvSpPr>
        <p:spPr>
          <a:xfrm xmlns:a="http://schemas.openxmlformats.org/drawingml/2006/main">
            <a:off x="960120" y="2895600"/>
            <a:ext cx="10271474"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1A1A1A"/>
                </a:solidFill>
              </a:defRPr>
            </a:defPPr>
            <a:lvl1pPr>
              <a:defRPr sz="1650">
                <a:solidFill>
                  <a:srgbClr val="1A1A1A"/>
                </a:solidFill>
              </a:defRPr>
            </a:lvl1pPr>
            <a:lvl2pPr>
              <a:defRPr sz="1650">
                <a:solidFill>
                  <a:srgbClr val="1A1A1A"/>
                </a:solidFill>
              </a:defRPr>
            </a:lvl2pPr>
            <a:lvl3pPr>
              <a:defRPr sz="1650">
                <a:solidFill>
                  <a:srgbClr val="1A1A1A"/>
                </a:solidFill>
              </a:defRPr>
            </a:lvl3pPr>
            <a:lvl4pPr>
              <a:defRPr sz="1650">
                <a:solidFill>
                  <a:srgbClr val="1A1A1A"/>
                </a:solidFill>
              </a:defRPr>
            </a:lvl4pPr>
            <a:lvl5pPr>
              <a:defRPr sz="1650">
                <a:solidFill>
                  <a:srgbClr val="1A1A1A"/>
                </a:solidFill>
              </a:defRPr>
            </a:lvl5pPr>
            <a:lvl6pPr>
              <a:defRPr sz="1650">
                <a:solidFill>
                  <a:srgbClr val="1A1A1A"/>
                </a:solidFill>
              </a:defRPr>
            </a:lvl6pPr>
            <a:lvl7pPr>
              <a:defRPr sz="1650">
                <a:solidFill>
                  <a:srgbClr val="1A1A1A"/>
                </a:solidFill>
              </a:defRPr>
            </a:lvl7pPr>
            <a:lvl8pPr>
              <a:defRPr sz="1650">
                <a:solidFill>
                  <a:srgbClr val="1A1A1A"/>
                </a:solidFill>
              </a:defRPr>
            </a:lvl8pPr>
            <a:lvl9pPr>
              <a:defRPr sz="1650">
                <a:solidFill>
                  <a:srgbClr val="1A1A1A"/>
                </a:solidFill>
              </a:defRPr>
            </a:lvl9pPr>
          </a:lstStyle>
          <a:p xmlns:a="http://schemas.openxmlformats.org/drawingml/2006/main">
            <a:pPr>
              <a:defRPr sz="1650">
                <a:solidFill>
                  <a:srgbClr val="1A1A1A"/>
                </a:solidFill>
              </a:defRPr>
            </a:pPr>
            <a:r>
              <a:rPr sz="1650">
                <a:solidFill>
                  <a:srgbClr val="1A1A1A"/>
                </a:solidFill>
              </a:rPr>
              <a:t>Our combined target is below 5% attack success. The current main result is 10%.</a:t>
            </a:r>
          </a:p>
          <a:p xmlns:a="http://schemas.openxmlformats.org/drawingml/2006/main">
            <a:pPr>
              <a:defRPr sz="1650">
                <a:solidFill>
                  <a:srgbClr val="1A1A1A"/>
                </a:solidFill>
              </a:defRPr>
            </a:pPr>
            <a:r>
              <a:rPr sz="1650">
                <a:solidFill>
                  <a:srgbClr val="1A1A1A"/>
                </a:solidFill>
              </a:rPr>
              <a:t>The latest approval step still needs a full attack evaluation.</a:t>
            </a:r>
          </a:p>
        </p:txBody>
      </p:sp>
      <p:graphicFrame>
        <p:nvGraphicFramePr>
          <p:cNvPr id="13" name="">
            <a:extLst xmlns:a="http://schemas.openxmlformats.org/drawingml/2006/main">
              <a:ext uri="{FF2B5EF4-FFF2-40B4-BE49-F238E27FC236}">
                <a16:creationId xmlns:a16="http://schemas.microsoft.com/office/drawing/2014/main" id="{B35B831E-4A21-4EE0-B040-B3EDB9F36CE8}"/>
              </a:ext>
            </a:extLst>
          </p:cNvPr>
          <p:cNvGraphicFramePr/>
          <p:nvPr/>
        </p:nvGraphicFramePr>
        <p:xfrm>
          <a:off xmlns:a="http://schemas.openxmlformats.org/drawingml/2006/main" x="731520" y="3886200"/>
          <a:ext xmlns:a="http://schemas.openxmlformats.org/drawingml/2006/main" cx="10728674" cy="2133600"/>
        </p:xfrm>
        <a:graphic xmlns:a="http://schemas.openxmlformats.org/drawingml/2006/main">
          <a:graphicData uri="http://schemas.openxmlformats.org/drawingml/2006/table">
            <a:tbl>
              <a:tblPr/>
              <a:tblGrid>
                <a:gridCol w="3143250"/>
                <a:gridCol w="7585424"/>
              </a:tblGrid>
              <a:tr h="426720">
                <a:tc>
                  <a:txBody>
                    <a:bodyPr/>
                    <a:lstStyle/>
                    <a:p>
                      <a:r>
                        <a:rPr sz="1313" b="1">
                          <a:solidFill>
                            <a:srgbClr val="FFFFFF"/>
                          </a:solidFill>
                        </a:rPr>
                        <a:t>Final demonstration</a:t>
                      </a:r>
                    </a:p>
                  </a:txBody>
                  <a:tcPr marL="91440" marR="91440" marT="45720" marB="45720">
                    <a:lnL w="9525">
                      <a:solidFill>
                        <a:srgbClr val="C9D6E3"/>
                      </a:solidFill>
                      <a:prstDash val="solid"/>
                    </a:lnL>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c>
                  <a:txBody>
                    <a:bodyPr/>
                    <a:lstStyle/>
                    <a:p>
                      <a:r>
                        <a:rPr sz="1313" b="1">
                          <a:solidFill>
                            <a:srgbClr val="FFFFFF"/>
                          </a:solidFill>
                        </a:rPr>
                        <a:t>What we plan to show</a:t>
                      </a:r>
                    </a:p>
                  </a:txBody>
                  <a:tcPr marL="91440" marR="91440" marT="45720" marB="45720">
                    <a:lnR w="9525">
                      <a:solidFill>
                        <a:srgbClr val="C9D6E3"/>
                      </a:solidFill>
                      <a:prstDash val="solid"/>
                    </a:lnR>
                    <a:lnT w="9525">
                      <a:solidFill>
                        <a:srgbClr val="C9D6E3"/>
                      </a:solidFill>
                      <a:prstDash val="solid"/>
                    </a:lnT>
                    <a:lnB w="9525">
                      <a:solidFill>
                        <a:srgbClr val="C9D6E3"/>
                      </a:solidFill>
                      <a:prstDash val="solid"/>
                    </a:lnB>
                    <a:solidFill>
                      <a:srgbClr val="14375E"/>
                    </a:solidFill>
                  </a:tcPr>
                </a:tc>
              </a:tr>
              <a:tr h="426720">
                <a:tc>
                  <a:txBody>
                    <a:bodyPr/>
                    <a:lstStyle/>
                    <a:p>
                      <a:r>
                        <a:rPr sz="1313" b="0">
                          <a:solidFill>
                            <a:srgbClr val="1A1A1A"/>
                          </a:solidFill>
                        </a:rPr>
                        <a:t>Agent without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A document attack changes an email’s recipients.</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Agent with defenses</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Detection flags attack text or the gate removes the attacker address.</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Live approval step</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The user checks the exact draft before a protected send.</a:t>
                      </a:r>
                    </a:p>
                  </a:txBody>
                  <a:tcPr marL="91440" marR="91440" marT="45720" marB="45720">
                    <a:lnR w="9525">
                      <a:solidFill>
                        <a:srgbClr val="C9D6E3"/>
                      </a:solidFill>
                      <a:prstDash val="solid"/>
                    </a:lnR>
                    <a:lnB w="9525">
                      <a:solidFill>
                        <a:srgbClr val="C9D6E3"/>
                      </a:solidFill>
                      <a:prstDash val="solid"/>
                    </a:lnB>
                    <a:solidFill>
                      <a:srgbClr val="FFFFFF"/>
                    </a:solidFill>
                  </a:tcPr>
                </a:tc>
              </a:tr>
              <a:tr h="426720">
                <a:tc>
                  <a:txBody>
                    <a:bodyPr/>
                    <a:lstStyle/>
                    <a:p>
                      <a:r>
                        <a:rPr sz="1313" b="0">
                          <a:solidFill>
                            <a:srgbClr val="1A1A1A"/>
                          </a:solidFill>
                        </a:rPr>
                        <a:t>Final evaluation</a:t>
                      </a:r>
                    </a:p>
                  </a:txBody>
                  <a:tcPr marL="91440" marR="91440" marT="45720" marB="45720">
                    <a:lnL w="9525">
                      <a:solidFill>
                        <a:srgbClr val="C9D6E3"/>
                      </a:solidFill>
                      <a:prstDash val="solid"/>
                    </a:lnL>
                    <a:lnR w="9525">
                      <a:solidFill>
                        <a:srgbClr val="C9D6E3"/>
                      </a:solidFill>
                      <a:prstDash val="solid"/>
                    </a:lnR>
                    <a:lnB w="9525">
                      <a:solidFill>
                        <a:srgbClr val="C9D6E3"/>
                      </a:solidFill>
                      <a:prstDash val="solid"/>
                    </a:lnB>
                    <a:solidFill>
                      <a:srgbClr val="FFFFFF"/>
                    </a:solidFill>
                  </a:tcPr>
                </a:tc>
                <a:tc>
                  <a:txBody>
                    <a:bodyPr/>
                    <a:lstStyle/>
                    <a:p>
                      <a:r>
                        <a:rPr sz="1313" b="0">
                          <a:solidFill>
                            <a:srgbClr val="1A1A1A"/>
                          </a:solidFill>
                        </a:rPr>
                        <a:t>Test examples kept aside and report useful task completion too.</a:t>
                      </a:r>
                    </a:p>
                  </a:txBody>
                  <a:tcPr marL="91440" marR="91440" marT="45720" marB="45720">
                    <a:lnR w="9525">
                      <a:solidFill>
                        <a:srgbClr val="C9D6E3"/>
                      </a:solidFill>
                      <a:prstDash val="solid"/>
                    </a:lnR>
                    <a:lnB w="9525">
                      <a:solidFill>
                        <a:srgbClr val="C9D6E3"/>
                      </a:solidFill>
                      <a:prstDash val="solid"/>
                    </a:lnB>
                    <a:solidFill>
                      <a:srgbClr val="FFFFFF"/>
                    </a:solidFill>
                  </a:tcPr>
                </a:tc>
              </a:tr>
            </a:tbl>
          </a:graphicData>
        </a:graphic>
      </p:graphicFrame>
    </p:spTree>
    <p:extLst>
      <p:ext uri="{BB962C8B-B14F-4D97-AF65-F5344CB8AC3E}">
        <p14:creationId xmlns:p14="http://schemas.microsoft.com/office/powerpoint/2010/main" val="176554827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4CD31EA-4110-4269-9353-E87A375270E6}"/>
              </a:ext>
            </a:extLst>
          </p:cNvPr>
          <p:cNvSpPr>
            <a:spLocks xmlns:a="http://schemas.openxmlformats.org/drawingml/2006/main" noGrp="1"/>
          </p:cNvSpPr>
          <p:nvPr/>
        </p:nvSpPr>
        <p:spPr>
          <a:xfrm xmlns:a="http://schemas.openxmlformats.org/drawingml/2006/main">
            <a:off x="731520" y="411480"/>
            <a:ext cx="5486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00">
                <a:solidFill>
                  <a:srgbClr val="1F5C99"/>
                </a:solidFill>
                <a:latin typeface="Calibri"/>
                <a:ea typeface="Calibri"/>
                <a:cs typeface="Calibri"/>
              </a:rPr>
              <a:t>SECTION 4 OF 4</a:t>
            </a:r>
            <a:endParaRPr sz="1200"/>
          </a:p>
        </p:txBody>
      </p:sp>
      <p:sp>
        <p:nvSpPr>
          <p:cNvPr id="3" name="Text 1">
            <a:extLst xmlns:a="http://schemas.openxmlformats.org/drawingml/2006/main">
              <a:ext uri="{FF2B5EF4-FFF2-40B4-BE49-F238E27FC236}">
                <a16:creationId xmlns:a16="http://schemas.microsoft.com/office/drawing/2014/main" id="{BEDEC444-822A-49B7-89FD-78607E2C726B}"/>
              </a:ext>
            </a:extLst>
          </p:cNvPr>
          <p:cNvSpPr>
            <a:spLocks xmlns:a="http://schemas.openxmlformats.org/drawingml/2006/main" noGrp="1"/>
          </p:cNvSpPr>
          <p:nvPr/>
        </p:nvSpPr>
        <p:spPr>
          <a:xfrm xmlns:a="http://schemas.openxmlformats.org/drawingml/2006/main">
            <a:off x="8899855" y="411480"/>
            <a:ext cx="25603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i="1">
                <a:solidFill>
                  <a:srgbClr val="5A6672"/>
                </a:solidFill>
                <a:latin typeface="Calibri"/>
                <a:ea typeface="Calibri"/>
                <a:cs typeface="Calibri"/>
              </a:rPr>
              <a:t>Presented by: Speaker 5</a:t>
            </a:r>
            <a:endParaRPr sz="1100"/>
          </a:p>
        </p:txBody>
      </p:sp>
      <p:sp>
        <p:nvSpPr>
          <p:cNvPr id="4" name="Text 2">
            <a:extLst xmlns:a="http://schemas.openxmlformats.org/drawingml/2006/main">
              <a:ext uri="{FF2B5EF4-FFF2-40B4-BE49-F238E27FC236}">
                <a16:creationId xmlns:a16="http://schemas.microsoft.com/office/drawing/2014/main" id="{11821CE6-B82D-4C25-A5EB-4F338A661097}"/>
              </a:ext>
            </a:extLst>
          </p:cNvPr>
          <p:cNvSpPr>
            <a:spLocks xmlns:a="http://schemas.openxmlformats.org/drawingml/2006/main" noGrp="1"/>
          </p:cNvSpPr>
          <p:nvPr/>
        </p:nvSpPr>
        <p:spPr>
          <a:xfrm xmlns:a="http://schemas.openxmlformats.org/drawingml/2006/main">
            <a:off x="731520" y="713232"/>
            <a:ext cx="10728655"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14375E"/>
                </a:solidFill>
                <a:latin typeface="Calibri"/>
                <a:ea typeface="Calibri"/>
                <a:cs typeface="Calibri"/>
              </a:rPr>
              <a:t>Timeline with Milestones</a:t>
            </a:r>
            <a:endParaRPr sz="2800"/>
          </a:p>
        </p:txBody>
      </p:sp>
      <p:sp>
        <p:nvSpPr>
          <p:cNvPr id="5" name="Shape 3">
            <a:extLst xmlns:a="http://schemas.openxmlformats.org/drawingml/2006/main">
              <a:ext uri="{FF2B5EF4-FFF2-40B4-BE49-F238E27FC236}">
                <a16:creationId xmlns:a16="http://schemas.microsoft.com/office/drawing/2014/main" id="{3B54EFC9-384A-4495-A8E1-A04A748F6C2F}"/>
              </a:ext>
            </a:extLst>
          </p:cNvPr>
          <p:cNvSpPr>
            <a:spLocks xmlns:a="http://schemas.openxmlformats.org/drawingml/2006/main" noGrp="1"/>
          </p:cNvSpPr>
          <p:nvPr/>
        </p:nvSpPr>
        <p:spPr>
          <a:xfrm xmlns:a="http://schemas.openxmlformats.org/drawingml/2006/main">
            <a:off x="731520" y="1554480"/>
            <a:ext cx="10728655" cy="2103120"/>
          </a:xfrm>
          <a:prstGeom xmlns:a="http://schemas.openxmlformats.org/drawingml/2006/main" prst="rect">
            <a:avLst/>
          </a:prstGeom>
          <a:solidFill xmlns:a="http://schemas.openxmlformats.org/drawingml/2006/main">
            <a:srgbClr val="F2F5F9"/>
          </a:solidFill>
        </p:spPr>
      </p:sp>
      <p:sp>
        <p:nvSpPr>
          <p:cNvPr id="6" name="Text 4">
            <a:extLst xmlns:a="http://schemas.openxmlformats.org/drawingml/2006/main">
              <a:ext uri="{FF2B5EF4-FFF2-40B4-BE49-F238E27FC236}">
                <a16:creationId xmlns:a16="http://schemas.microsoft.com/office/drawing/2014/main" id="{DCD31AFE-1B38-4272-A89B-E1EDC78A9CE9}"/>
              </a:ext>
            </a:extLst>
          </p:cNvPr>
          <p:cNvSpPr>
            <a:spLocks xmlns:a="http://schemas.openxmlformats.org/drawingml/2006/main" noGrp="1"/>
          </p:cNvSpPr>
          <p:nvPr/>
        </p:nvSpPr>
        <p:spPr>
          <a:xfrm xmlns:a="http://schemas.openxmlformats.org/drawingml/2006/main">
            <a:off x="960120" y="169164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a:solidFill>
                  <a:srgbClr val="5A6672"/>
                </a:solidFill>
                <a:latin typeface="Calibri"/>
                <a:ea typeface="Calibri"/>
                <a:cs typeface="Calibri"/>
              </a:rPr>
              <a:t>REVISED PLAN</a:t>
            </a:r>
            <a:endParaRPr sz="1100"/>
          </a:p>
        </p:txBody>
      </p:sp>
      <p:graphicFrame>
        <p:nvGraphicFramePr>
          <p:cNvPr id="11" name="Table 0">
            <a:extLst xmlns:a="http://schemas.openxmlformats.org/drawingml/2006/main">
              <a:ext uri="{FF2B5EF4-FFF2-40B4-BE49-F238E27FC236}">
                <a16:creationId xmlns:a16="http://schemas.microsoft.com/office/drawing/2014/main" id="{398AC651-363B-460B-A126-C0940CD0D35E}"/>
              </a:ext>
            </a:extLst>
          </p:cNvPr>
          <p:cNvGraphicFramePr/>
          <p:nvPr/>
        </p:nvGraphicFramePr>
        <p:xfrm>
          <a:off xmlns:a="http://schemas.openxmlformats.org/drawingml/2006/main" x="731520" y="3829050"/>
          <a:ext xmlns:a="http://schemas.openxmlformats.org/drawingml/2006/main" cx="10728674" cy="2276475"/>
        </p:xfrm>
        <a:graphic xmlns:a="http://schemas.openxmlformats.org/drawingml/2006/main">
          <a:graphicData uri="http://schemas.openxmlformats.org/drawingml/2006/table">
            <a:tbl>
              <a:tblPr/>
              <a:tblGrid>
                <a:gridCol w="2682164"/>
                <a:gridCol w="2682164"/>
                <a:gridCol w="2682164"/>
                <a:gridCol w="2682164"/>
              </a:tblGrid>
              <a:tr h="323850">
                <a:tc>
                  <a:txBody>
                    <a:bodyPr/>
                    <a:lstStyle/>
                    <a:p>
                      <a:pPr marL="0" indent="0">
                        <a:buNone/>
                      </a:pPr>
                      <a:r>
                        <a:rPr sz="1275" b="1">
                          <a:solidFill>
                            <a:srgbClr val="FFFFFF"/>
                          </a:solidFill>
                          <a:latin typeface="Calibri"/>
                          <a:ea typeface="Calibri"/>
                          <a:cs typeface="Calibri"/>
                        </a:rPr>
                        <a:t>Milestone / Task</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c>
                  <a:txBody>
                    <a:bodyPr/>
                    <a:lstStyle/>
                    <a:p>
                      <a:pPr marL="0" indent="0">
                        <a:buNone/>
                      </a:pPr>
                      <a:r>
                        <a:rPr sz="1275" b="1">
                          <a:solidFill>
                            <a:srgbClr val="FFFFFF"/>
                          </a:solidFill>
                          <a:latin typeface="Calibri"/>
                          <a:ea typeface="Calibri"/>
                          <a:cs typeface="Calibri"/>
                        </a:rPr>
                        <a:t>Target date</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c>
                  <a:txBody>
                    <a:bodyPr/>
                    <a:lstStyle/>
                    <a:p>
                      <a:pPr marL="0" indent="0">
                        <a:buNone/>
                      </a:pPr>
                      <a:r>
                        <a:rPr sz="1275" b="1">
                          <a:solidFill>
                            <a:srgbClr val="FFFFFF"/>
                          </a:solidFill>
                          <a:latin typeface="Calibri"/>
                          <a:ea typeface="Calibri"/>
                          <a:cs typeface="Calibri"/>
                        </a:rPr>
                        <a:t>Owner</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c>
                  <a:txBody>
                    <a:bodyPr/>
                    <a:lstStyle/>
                    <a:p>
                      <a:pPr marL="0" indent="0">
                        <a:buNone/>
                      </a:pPr>
                      <a:r>
                        <a:rPr sz="1275" b="1">
                          <a:solidFill>
                            <a:srgbClr val="FFFFFF"/>
                          </a:solidFill>
                          <a:latin typeface="Calibri"/>
                          <a:ea typeface="Calibri"/>
                          <a:cs typeface="Calibri"/>
                        </a:rPr>
                        <a:t>Status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solidFill>
                      <a:srgbClr val="14375E"/>
                    </a:solidFill>
                  </a:tcPr>
                </a:tc>
              </a:tr>
              <a:tr h="323850">
                <a:tc>
                  <a:txBody>
                    <a:bodyPr/>
                    <a:lstStyle/>
                    <a:p>
                      <a:pPr marL="0" indent="0">
                        <a:buNone/>
                      </a:pPr>
                      <a:r>
                        <a:rPr sz="1275" b="0">
                          <a:solidFill>
                            <a:srgbClr val="1A1A1A"/>
                          </a:solidFill>
                          <a:latin typeface="Calibri"/>
                          <a:ea typeface="Calibri"/>
                          <a:cs typeface="Calibri"/>
                        </a:rPr>
                        <a:t>Agent and both defenses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By Oct 21</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Implemented</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pPr marL="0" indent="0">
                        <a:buNone/>
                      </a:pPr>
                      <a:r>
                        <a:rPr sz="1275" b="0">
                          <a:solidFill>
                            <a:srgbClr val="1A1A1A"/>
                          </a:solidFill>
                          <a:latin typeface="Calibri"/>
                          <a:ea typeface="Calibri"/>
                          <a:cs typeface="Calibri"/>
                        </a:rPr>
                        <a:t>Attack data and early results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By Oct 21</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Initial results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pPr marL="0" indent="0">
                        <a:buNone/>
                      </a:pPr>
                      <a:r>
                        <a:rPr sz="1275" b="0">
                          <a:solidFill>
                            <a:srgbClr val="1A1A1A"/>
                          </a:solidFill>
                          <a:latin typeface="Calibri"/>
                          <a:ea typeface="Calibri"/>
                          <a:cs typeface="Calibri"/>
                        </a:rPr>
                        <a:t>Live approval and local checks</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Oct 21</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Added and checked</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pPr marL="0" indent="0">
                        <a:buNone/>
                      </a:pPr>
                      <a:r>
                        <a:rPr sz="1275" b="0">
                          <a:solidFill>
                            <a:srgbClr val="1A1A1A"/>
                          </a:solidFill>
                          <a:latin typeface="Calibri"/>
                          <a:ea typeface="Calibri"/>
                          <a:cs typeface="Calibri"/>
                        </a:rPr>
                        <a:t>Hosted model check and rehearsal</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Oct 26</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Team</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pPr marL="0" indent="0">
                        <a:buNone/>
                      </a:pPr>
                      <a:r>
                        <a:rPr sz="1275" b="0">
                          <a:solidFill>
                            <a:srgbClr val="1A1A1A"/>
                          </a:solidFill>
                          <a:latin typeface="Calibri"/>
                          <a:ea typeface="Calibri"/>
                          <a:cs typeface="Calibri"/>
                        </a:rPr>
                        <a:t>Pending</a:t>
                      </a:r>
                      <a:endParaRPr sz="1200">
                        <a:latin typeface="Calibri"/>
                        <a:ea typeface="Calibri"/>
                        <a:cs typeface="Calibri"/>
                      </a:endParaRP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r>
                        <a:rPr sz="1275" b="0">
                          <a:solidFill>
                            <a:srgbClr val="1A1A1A"/>
                          </a:solidFill>
                        </a:rPr>
                        <a:t>Freeze system and final testing</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Nov 4</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Team</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Planned</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r h="323850">
                <a:tc>
                  <a:txBody>
                    <a:bodyPr/>
                    <a:lstStyle/>
                    <a:p>
                      <a:r>
                        <a:rPr sz="1275" b="0">
                          <a:solidFill>
                            <a:srgbClr val="1A1A1A"/>
                          </a:solidFill>
                        </a:rPr>
                        <a:t>Final report and presentation</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Nov 11*</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Team</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c>
                  <a:txBody>
                    <a:bodyPr/>
                    <a:lstStyle/>
                    <a:p>
                      <a:r>
                        <a:rPr sz="1275" b="0">
                          <a:solidFill>
                            <a:srgbClr val="1A1A1A"/>
                          </a:solidFill>
                        </a:rPr>
                        <a:t>Planned</a:t>
                      </a:r>
                    </a:p>
                  </a:txBody>
                  <a:tcPr marL="91440" marR="91440" marT="45720" marB="45720">
                    <a:lnL w="12700" cmpd="sng">
                      <a:solidFill>
                        <a:srgbClr val="D6DEE6"/>
                      </a:solidFill>
                      <a:prstDash val="solid"/>
                    </a:lnL>
                    <a:lnR w="12700" cmpd="sng">
                      <a:solidFill>
                        <a:srgbClr val="D6DEE6"/>
                      </a:solidFill>
                      <a:prstDash val="solid"/>
                    </a:lnR>
                    <a:lnT w="12700" cmpd="sng">
                      <a:solidFill>
                        <a:srgbClr val="D6DEE6"/>
                      </a:solidFill>
                      <a:prstDash val="solid"/>
                    </a:lnT>
                    <a:lnB w="12700" cmpd="sng">
                      <a:solidFill>
                        <a:srgbClr val="D6DEE6"/>
                      </a:solidFill>
                      <a:prstDash val="solid"/>
                    </a:lnB>
                  </a:tcPr>
                </a:tc>
              </a:tr>
            </a:tbl>
          </a:graphicData>
        </a:graphic>
      </p:graphicFrame>
      <p:sp>
        <p:nvSpPr>
          <p:cNvPr id="9" name="Text 6">
            <a:extLst xmlns:a="http://schemas.openxmlformats.org/drawingml/2006/main">
              <a:ext uri="{FF2B5EF4-FFF2-40B4-BE49-F238E27FC236}">
                <a16:creationId xmlns:a16="http://schemas.microsoft.com/office/drawing/2014/main" id="{4D77B4A3-9196-44B3-B070-1814DAB92956}"/>
              </a:ext>
            </a:extLst>
          </p:cNvPr>
          <p:cNvSpPr>
            <a:spLocks xmlns:a="http://schemas.openxmlformats.org/drawingml/2006/main" noGrp="1"/>
          </p:cNvSpPr>
          <p:nvPr/>
        </p:nvSpPr>
        <p:spPr>
          <a:xfrm xmlns:a="http://schemas.openxmlformats.org/drawingml/2006/main">
            <a:off x="457200" y="644652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672"/>
                </a:solidFill>
                <a:latin typeface="Calibri"/>
                <a:ea typeface="Calibri"/>
                <a:cs typeface="Calibri"/>
              </a:rPr>
              <a:t>COE444 Computer Security  |  Progress Presentation Template</a:t>
            </a:r>
            <a:endParaRPr sz="1000"/>
          </a:p>
        </p:txBody>
      </p:sp>
      <p:sp>
        <p:nvSpPr>
          <p:cNvPr id="10" name="Text 7">
            <a:extLst xmlns:a="http://schemas.openxmlformats.org/drawingml/2006/main">
              <a:ext uri="{FF2B5EF4-FFF2-40B4-BE49-F238E27FC236}">
                <a16:creationId xmlns:a16="http://schemas.microsoft.com/office/drawing/2014/main" id="{F2B11FB7-F81B-4E1C-A044-8BF5126BCA53}"/>
              </a:ext>
            </a:extLst>
          </p:cNvPr>
          <p:cNvSpPr>
            <a:spLocks xmlns:a="http://schemas.openxmlformats.org/drawingml/2006/main" noGrp="1"/>
          </p:cNvSpPr>
          <p:nvPr/>
        </p:nvSpPr>
        <p:spPr>
          <a:xfrm xmlns:a="http://schemas.openxmlformats.org/drawingml/2006/main">
            <a:off x="11277295" y="644652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a:solidFill>
                  <a:srgbClr val="5A6672"/>
                </a:solidFill>
                <a:latin typeface="Calibri"/>
                <a:ea typeface="Calibri"/>
                <a:cs typeface="Calibri"/>
              </a:rPr>
              <a:t>5</a:t>
            </a:r>
            <a:endParaRPr sz="1000"/>
          </a:p>
        </p:txBody>
      </p:sp>
      <p:sp>
        <p:nvSpPr>
          <p:cNvPr id="12" name="">
            <a:extLst xmlns:a="http://schemas.openxmlformats.org/drawingml/2006/main">
              <a:ext uri="{FF2B5EF4-FFF2-40B4-BE49-F238E27FC236}">
                <a16:creationId xmlns:a16="http://schemas.microsoft.com/office/drawing/2014/main" id="{4728C76D-B732-4C7C-8E9A-AF3CD68D6076}"/>
              </a:ext>
            </a:extLst>
          </p:cNvPr>
          <p:cNvSpPr>
            <a:spLocks xmlns:a="http://schemas.openxmlformats.org/drawingml/2006/main" noGrp="1"/>
          </p:cNvSpPr>
          <p:nvPr/>
        </p:nvSpPr>
        <p:spPr>
          <a:xfrm xmlns:a="http://schemas.openxmlformats.org/drawingml/2006/main">
            <a:off x="960120" y="2009775"/>
            <a:ext cx="10271474"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a:solidFill>
                  <a:srgbClr val="1A1A1A"/>
                </a:solidFill>
              </a:defRPr>
            </a:defPPr>
            <a:lvl1pPr>
              <a:defRPr sz="1650">
                <a:solidFill>
                  <a:srgbClr val="1A1A1A"/>
                </a:solidFill>
              </a:defRPr>
            </a:lvl1pPr>
            <a:lvl2pPr>
              <a:defRPr sz="1650">
                <a:solidFill>
                  <a:srgbClr val="1A1A1A"/>
                </a:solidFill>
              </a:defRPr>
            </a:lvl2pPr>
            <a:lvl3pPr>
              <a:defRPr sz="1650">
                <a:solidFill>
                  <a:srgbClr val="1A1A1A"/>
                </a:solidFill>
              </a:defRPr>
            </a:lvl3pPr>
            <a:lvl4pPr>
              <a:defRPr sz="1650">
                <a:solidFill>
                  <a:srgbClr val="1A1A1A"/>
                </a:solidFill>
              </a:defRPr>
            </a:lvl4pPr>
            <a:lvl5pPr>
              <a:defRPr sz="1650">
                <a:solidFill>
                  <a:srgbClr val="1A1A1A"/>
                </a:solidFill>
              </a:defRPr>
            </a:lvl5pPr>
            <a:lvl6pPr>
              <a:defRPr sz="1650">
                <a:solidFill>
                  <a:srgbClr val="1A1A1A"/>
                </a:solidFill>
              </a:defRPr>
            </a:lvl6pPr>
            <a:lvl7pPr>
              <a:defRPr sz="1650">
                <a:solidFill>
                  <a:srgbClr val="1A1A1A"/>
                </a:solidFill>
              </a:defRPr>
            </a:lvl7pPr>
            <a:lvl8pPr>
              <a:defRPr sz="1650">
                <a:solidFill>
                  <a:srgbClr val="1A1A1A"/>
                </a:solidFill>
              </a:defRPr>
            </a:lvl8pPr>
            <a:lvl9pPr>
              <a:defRPr sz="1650">
                <a:solidFill>
                  <a:srgbClr val="1A1A1A"/>
                </a:solidFill>
              </a:defRPr>
            </a:lvl9pPr>
          </a:lstStyle>
          <a:p xmlns:a="http://schemas.openxmlformats.org/drawingml/2006/main">
            <a:pPr>
              <a:defRPr sz="1650">
                <a:solidFill>
                  <a:srgbClr val="1A1A1A"/>
                </a:solidFill>
              </a:defRPr>
            </a:pPr>
            <a:r>
              <a:rPr sz="1650">
                <a:solidFill>
                  <a:srgbClr val="1A1A1A"/>
                </a:solidFill>
              </a:rPr>
              <a:t>Completed: the core agent, two defenses and preliminary experiments.</a:t>
            </a:r>
          </a:p>
          <a:p xmlns:a="http://schemas.openxmlformats.org/drawingml/2006/main">
            <a:pPr>
              <a:defRPr sz="1650">
                <a:solidFill>
                  <a:srgbClr val="1A1A1A"/>
                </a:solidFill>
              </a:defRPr>
            </a:pPr>
            <a:r>
              <a:rPr sz="1650">
                <a:solidFill>
                  <a:srgbClr val="1A1A1A"/>
                </a:solidFill>
              </a:rPr>
              <a:t>Added: live email approval and local reliability checks.</a:t>
            </a:r>
          </a:p>
        </p:txBody>
      </p:sp>
      <p:sp>
        <p:nvSpPr>
          <p:cNvPr id="13" name="">
            <a:extLst xmlns:a="http://schemas.openxmlformats.org/drawingml/2006/main">
              <a:ext uri="{FF2B5EF4-FFF2-40B4-BE49-F238E27FC236}">
                <a16:creationId xmlns:a16="http://schemas.microsoft.com/office/drawing/2014/main" id="{330BE829-43F9-4F41-9C21-132A92AEECDE}"/>
              </a:ext>
            </a:extLst>
          </p:cNvPr>
          <p:cNvSpPr>
            <a:spLocks xmlns:a="http://schemas.openxmlformats.org/drawingml/2006/main" noGrp="1"/>
          </p:cNvSpPr>
          <p:nvPr/>
        </p:nvSpPr>
        <p:spPr>
          <a:xfrm xmlns:a="http://schemas.openxmlformats.org/drawingml/2006/main">
            <a:off x="960120" y="2857500"/>
            <a:ext cx="10271474"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a:solidFill>
                  <a:srgbClr val="1A1A1A"/>
                </a:solidFill>
              </a:defRPr>
            </a:defPPr>
            <a:lvl1pPr>
              <a:defRPr sz="1575">
                <a:solidFill>
                  <a:srgbClr val="1A1A1A"/>
                </a:solidFill>
              </a:defRPr>
            </a:lvl1pPr>
            <a:lvl2pPr>
              <a:defRPr sz="1575">
                <a:solidFill>
                  <a:srgbClr val="1A1A1A"/>
                </a:solidFill>
              </a:defRPr>
            </a:lvl2pPr>
            <a:lvl3pPr>
              <a:defRPr sz="1575">
                <a:solidFill>
                  <a:srgbClr val="1A1A1A"/>
                </a:solidFill>
              </a:defRPr>
            </a:lvl3pPr>
            <a:lvl4pPr>
              <a:defRPr sz="1575">
                <a:solidFill>
                  <a:srgbClr val="1A1A1A"/>
                </a:solidFill>
              </a:defRPr>
            </a:lvl4pPr>
            <a:lvl5pPr>
              <a:defRPr sz="1575">
                <a:solidFill>
                  <a:srgbClr val="1A1A1A"/>
                </a:solidFill>
              </a:defRPr>
            </a:lvl5pPr>
            <a:lvl6pPr>
              <a:defRPr sz="1575">
                <a:solidFill>
                  <a:srgbClr val="1A1A1A"/>
                </a:solidFill>
              </a:defRPr>
            </a:lvl6pPr>
            <a:lvl7pPr>
              <a:defRPr sz="1575">
                <a:solidFill>
                  <a:srgbClr val="1A1A1A"/>
                </a:solidFill>
              </a:defRPr>
            </a:lvl7pPr>
            <a:lvl8pPr>
              <a:defRPr sz="1575">
                <a:solidFill>
                  <a:srgbClr val="1A1A1A"/>
                </a:solidFill>
              </a:defRPr>
            </a:lvl8pPr>
            <a:lvl9pPr>
              <a:defRPr sz="1575">
                <a:solidFill>
                  <a:srgbClr val="1A1A1A"/>
                </a:solidFill>
              </a:defRPr>
            </a:lvl9pPr>
          </a:lstStyle>
          <a:p xmlns:a="http://schemas.openxmlformats.org/drawingml/2006/main">
            <a:pPr>
              <a:defRPr sz="1575">
                <a:solidFill>
                  <a:srgbClr val="1A1A1A"/>
                </a:solidFill>
              </a:defRPr>
            </a:pPr>
            <a:r>
              <a:rPr sz="1575">
                <a:solidFill>
                  <a:srgbClr val="1A1A1A"/>
                </a:solidFill>
              </a:rPr>
              <a:t>Remaining: check hosted models, rehearse the demo and evaluate the final system.</a:t>
            </a:r>
          </a:p>
          <a:p xmlns:a="http://schemas.openxmlformats.org/drawingml/2006/main">
            <a:pPr>
              <a:defRPr sz="1575">
                <a:solidFill>
                  <a:srgbClr val="1A1A1A"/>
                </a:solidFill>
              </a:defRPr>
            </a:pPr>
            <a:r>
              <a:rPr sz="1575">
                <a:solidFill>
                  <a:srgbClr val="1A1A1A"/>
                </a:solidFill>
              </a:rPr>
              <a:t>The dates below are team targets. Confirm the course’s Week 14 deadline.</a:t>
            </a:r>
          </a:p>
        </p:txBody>
      </p:sp>
    </p:spTree>
    <p:extLst>
      <p:ext uri="{BB962C8B-B14F-4D97-AF65-F5344CB8AC3E}">
        <p14:creationId xmlns:p14="http://schemas.microsoft.com/office/powerpoint/2010/main" val="148108639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2026-10-21T12:05:54.4670000Z</dcterms:created>
  <dcterms:modified xsi:type="dcterms:W3CDTF">2026-10-21T12:05:54.4670000Z</dcterms:modified>
</coreProperties>
</file>